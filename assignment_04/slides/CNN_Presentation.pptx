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338CA"/>
                </a:solidFill>
                <a:latin typeface="Segoe UI"/>
              </a:defRPr>
            </a:pPr>
            <a:r>
              <a:t>INTELLIGENT SYSTEMS · DEEP LEARNING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Convolutional Neural Networks (CNN)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Mathematical Foundations, Architectural Evolution, and Vectorized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9997135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ypical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754" y="3127248"/>
            <a:ext cx="3774186" cy="1161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7008" y="4398264"/>
            <a:ext cx="97776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Canonical End-to-End Convolutional Visual Perception 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8348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Authors:  Bùi Nguyên Hoàng Việt (B23DCDT285)  |  Lưu Anh Dũng (B23DCDK036)  |  Nguyễn Văn Trường (B23DCCE095)</a:t>
            </a:r>
          </a:p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Class: E23CNPM02  ·  Lecturer: Assoc. Prof. Dinh Que Tran, Ph.D.  ·  Post &amp; Telecommunications Institute of Technology (PTIT)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Structural System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Navigating the 4 Core Pillars of Convolutional Representation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56232"/>
            <a:ext cx="2450592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338CA"/>
                </a:solidFill>
                <a:latin typeface="Segoe UI"/>
              </a:defRPr>
            </a:pPr>
            <a:r>
              <a:t>PILLAR 01</a:t>
            </a:r>
          </a:p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Overview &amp; Vision Scope</a:t>
            </a:r>
          </a:p>
          <a:p>
            <a:pPr>
              <a:spcAft>
                <a:spcPts val="6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Spatial Geometry &amp; Foundations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Analysis of 2D pixel topology, the failure mode of vector unrolling, and inductive locality priors.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856232"/>
            <a:ext cx="2304288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attening_unro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276856"/>
            <a:ext cx="2048256" cy="10241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856232"/>
            <a:ext cx="2450592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PILLAR 02</a:t>
            </a:r>
          </a:p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Khái niệm (Concept &amp; Mechanics)</a:t>
            </a:r>
          </a:p>
          <a:p>
            <a:pPr>
              <a:spcAft>
                <a:spcPts val="6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Mathematical Foundations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Layer function composition, linear collapse proof, 2D/3D convolutions, stride/padding, and ReLU sparsity.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856232"/>
            <a:ext cx="2304288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D_convolution_frame_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393" y="1965960"/>
            <a:ext cx="1860605" cy="1645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4069080"/>
            <a:ext cx="5230368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33672"/>
            <a:ext cx="2450592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C3AED"/>
                </a:solidFill>
                <a:latin typeface="Segoe UI"/>
              </a:defRPr>
            </a:pPr>
            <a:r>
              <a:t>PILLAR 03</a:t>
            </a:r>
          </a:p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Phát triển CNN (Model Evolution)</a:t>
            </a:r>
          </a:p>
          <a:p>
            <a:pPr>
              <a:spcAft>
                <a:spcPts val="6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Historical Milestones &amp; Modern Frontiers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Exhaustive model deep-dives: Neocognitron, LeNet-5, AlexNet, VGG, Inception, ResNet, DenseNet, U-Net, MobileNet, EfficientNet, SENet, CBAM &amp; ViT.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4233672"/>
            <a:ext cx="2304288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gg_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4589124"/>
            <a:ext cx="2048256" cy="115447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7064" y="4069080"/>
            <a:ext cx="5230368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233672"/>
            <a:ext cx="2450592" cy="1865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PILLAR 04</a:t>
            </a:r>
          </a:p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Code Demo &amp; Verification</a:t>
            </a:r>
          </a:p>
          <a:p>
            <a:pPr>
              <a:spcAft>
                <a:spcPts val="600"/>
              </a:spcAft>
              <a:defRPr sz="1100" i="1">
                <a:solidFill>
                  <a:srgbClr val="64748B"/>
                </a:solidFill>
                <a:latin typeface="Calibri"/>
              </a:defRPr>
            </a:pPr>
            <a:r>
              <a:t>Vectorized Implementation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Calibri"/>
              </a:defRPr>
            </a:pPr>
            <a:r>
              <a:t>Vectorized im2col forward pass, analytical col2im backprop, PyTorch module, and learned filter maps.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4233672"/>
            <a:ext cx="2304288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ed_filters_fmn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8" y="4628692"/>
            <a:ext cx="2048256" cy="10753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Spatial Topology vs. Vector Unrolling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Why Traditional Dense Multi-Layer Perceptrons Fail on 2D Image Manifolds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The Coordinate Destruction Problem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Spatial Adjacency Destruction: </a:t>
            </a:r>
            <a:r>
              <a:rPr sz="1350">
                <a:solidFill>
                  <a:srgbClr val="334155"/>
                </a:solidFill>
                <a:latin typeface="Calibri"/>
              </a:rPr>
              <a:t>Unrolling a 2D image matrix into a 1D vector severs vertical neighbor relationships, permanently discarding geometric 2D pixel topology.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Loss of Translation Equivariance: </a:t>
            </a:r>
            <a:r>
              <a:rPr sz="1350">
                <a:solidFill>
                  <a:srgbClr val="334155"/>
                </a:solidFill>
                <a:latin typeface="Calibri"/>
              </a:rPr>
              <a:t>Dense MLPs cannot recognize an object if it shifts by a single pixel without relearning independent synaptic weights across every coordinate.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Coordinate Independence: </a:t>
            </a:r>
            <a:r>
              <a:rPr sz="1350">
                <a:solidFill>
                  <a:srgbClr val="334155"/>
                </a:solidFill>
                <a:latin typeface="Calibri"/>
              </a:rPr>
              <a:t>Convolutions preserve the 2D grid structure, applying the same local kernel regardless of where visual patterns appear.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42255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attening_unro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271" y="2217420"/>
            <a:ext cx="5961888" cy="2980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1983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Flattening a 2D Matrix (H x W) into a 1D Array Destroys Vertical Adjacency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Analytical Function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Deep Networks as Layer-wise Non-Linear Coordinate Transformations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n_hierarch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03729"/>
            <a:ext cx="5961888" cy="2608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Hierarchical Manifold Untangling: Low-Level Edges -&gt; Mid Motifs -&gt; Class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Functional Architecture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Composite Mapping: </a:t>
            </a:r>
            <a:r>
              <a:rPr sz="1350">
                <a:solidFill>
                  <a:srgbClr val="334155"/>
                </a:solidFill>
                <a:latin typeface="Calibri"/>
              </a:rPr>
              <a:t>A deep network represents an end-to-end composite function: F(X; Theta) = (f_L o f_{L-1} o ... o f_1)(X), progressively untangling raw manifolds.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Layer Transformation: </a:t>
            </a:r>
            <a:r>
              <a:rPr sz="1350">
                <a:solidFill>
                  <a:srgbClr val="334155"/>
                </a:solidFill>
                <a:latin typeface="Calibri"/>
              </a:rPr>
              <a:t>Each layer f_l applies an affine transformation followed by point-wise non-linearity: f_l(h) = sigma(W_l * h + b_l).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Separable Latent Space: </a:t>
            </a:r>
            <a:r>
              <a:rPr sz="1350">
                <a:solidFill>
                  <a:srgbClr val="334155"/>
                </a:solidFill>
                <a:latin typeface="Calibri"/>
              </a:rPr>
              <a:t>Intermediate representations transform non-linearly entangled input pixels into a linearly separable classification space at the final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Mandatory Non-Linearity &amp; Linear Collapse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Mathematical Proof of Why Stacking Linear Layers Adds Zero Expressive 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Analytical Proof of Linear Collapse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The Linear Collapse Theorem: </a:t>
            </a:r>
            <a:r>
              <a:rPr sz="1350">
                <a:solidFill>
                  <a:srgbClr val="334155"/>
                </a:solidFill>
                <a:latin typeface="Calibri"/>
              </a:rPr>
              <a:t>If all activation functions are linear (sigma(z) = z), then F(X) = W_L (W_{L-1} ... (W_1 X)) = (Product W_l) X = W_{eff} X + b_{eff}.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Zero Depth Advantage: </a:t>
            </a:r>
            <a:r>
              <a:rPr sz="1350">
                <a:solidFill>
                  <a:srgbClr val="334155"/>
                </a:solidFill>
                <a:latin typeface="Calibri"/>
              </a:rPr>
              <a:t>A 100-layer pure linear network collapses mathematically to a single shallow linear regression, completely incapable of solving non-linear boundaries.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Manifold Folding via ReLU: </a:t>
            </a:r>
            <a:r>
              <a:rPr sz="1350">
                <a:solidFill>
                  <a:srgbClr val="334155"/>
                </a:solidFill>
                <a:latin typeface="Calibri"/>
              </a:rPr>
              <a:t>Point-wise non-linear activations (sigma) fold and partition the vector space into piecewise linear decision regions of exponential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42255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lu_function_w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1" y="1801368"/>
            <a:ext cx="3813048" cy="3813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1983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Non-Linear Activation Function f(x) = max(0, x) Partitions the Space into Piecewise Linear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MLP Parameter Explosion Catastrophe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Why Fully-Connected Layers Scale Catastrophically on Visual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lp_vs_cnn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18055"/>
            <a:ext cx="5961888" cy="3179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Parameter Comparison: Fully-Connected (154M Params) vs. Convolutional (28 Params)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E11D48"/>
                </a:solidFill>
                <a:latin typeface="Segoe UI"/>
              </a:defRPr>
            </a:pPr>
            <a:r>
              <a:t>High-Dimensional Failure Mode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Combinatorial Weight Explosion: </a:t>
            </a:r>
            <a:r>
              <a:rPr sz="1350">
                <a:solidFill>
                  <a:srgbClr val="334155"/>
                </a:solidFill>
                <a:latin typeface="Calibri"/>
              </a:rPr>
              <a:t>A modest 224 x 224 x 3 image flattened into 150,528 inputs connected to 1,024 hidden neurons requires &gt;154 Million weights in Layer 1 alone!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Catastrophic Overfitting: </a:t>
            </a:r>
            <a:r>
              <a:rPr sz="1350">
                <a:solidFill>
                  <a:srgbClr val="334155"/>
                </a:solidFill>
                <a:latin typeface="Calibri"/>
              </a:rPr>
              <a:t>Massive parameter counts without spatial inductive priors cause severe overfitting and immediate GPU memory exhaustion.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Convolutional Efficiency: </a:t>
            </a:r>
            <a:r>
              <a:rPr sz="1350">
                <a:solidFill>
                  <a:srgbClr val="334155"/>
                </a:solidFill>
                <a:latin typeface="Calibri"/>
              </a:rPr>
              <a:t>A 3 x 3 x 3 convolutional filter requires only 28 learnable parameters, maintaining efficiency regardless of image resolution.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Biological Blueprint: Hubel &amp; Wiesel (1959)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Discovering Localized Receptive Fields in the Mammalian Visual Cortex (V1)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ubel_wiesel_receptive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148" y="1801368"/>
            <a:ext cx="2908662" cy="1527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438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Receptive Field Biological Mechanism (Hubel &amp; Wiesel, 1959)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ientation_tu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4087367"/>
            <a:ext cx="3054096" cy="1527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724143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Biological Orientation Tuning Curves in V1 Cortical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4338CA"/>
                </a:solidFill>
                <a:latin typeface="Segoe UI"/>
              </a:defRPr>
            </a:pPr>
            <a:r>
              <a:t>Neurobiological Foundations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Localized Simple Cells: </a:t>
            </a:r>
            <a:r>
              <a:rPr sz="1350">
                <a:solidFill>
                  <a:srgbClr val="334155"/>
                </a:solidFill>
                <a:latin typeface="Calibri"/>
              </a:rPr>
              <a:t>Hubel &amp; Wiesel proved that neurons in the primary visual cortex (V1) fire only to localized oriented edges, not full-field illumination.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Orientation Tuning: </a:t>
            </a:r>
            <a:r>
              <a:rPr sz="1350">
                <a:solidFill>
                  <a:srgbClr val="334155"/>
                </a:solidFill>
                <a:latin typeface="Calibri"/>
              </a:rPr>
              <a:t>Individual cortical cells exhibit sharp tuning curves, responding maximally to specific bar angles (0°, 45°, 90°) within a restricted receptive field.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Hierarchical Processing: </a:t>
            </a:r>
            <a:r>
              <a:rPr sz="1350">
                <a:solidFill>
                  <a:srgbClr val="334155"/>
                </a:solidFill>
                <a:latin typeface="Calibri"/>
              </a:rPr>
              <a:t>Complex cells aggregate simple cell outputs, inspiring neocognitron and modern convolutional kernel hierarchies.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2D Discrete Convolution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Sliding Window Cross-Correlation Across Spatial Image Grids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D_convolution_frame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78" y="1801368"/>
            <a:ext cx="4310402" cy="3813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Sliding Window Cross-Correlation: Kernel Receptive Field Dot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Sliding Window Mechanics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Mathematical Formulation: </a:t>
            </a:r>
            <a:r>
              <a:rPr sz="1350">
                <a:solidFill>
                  <a:srgbClr val="334155"/>
                </a:solidFill>
                <a:latin typeface="Calibri"/>
              </a:rPr>
              <a:t>Discrete convolution (cross-correlation): S(i, j) = (I * K)(i, j) = Sum_m Sum_n I(i+m, j+n) K(m, n) + b.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Kernel Dot Product: </a:t>
            </a:r>
            <a:r>
              <a:rPr sz="1350">
                <a:solidFill>
                  <a:srgbClr val="334155"/>
                </a:solidFill>
                <a:latin typeface="Calibri"/>
              </a:rPr>
              <a:t>A small K x K matrix slides across the input tensor, taking element-wise products and summing them to produce one output feature activation.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Feature Extraction: </a:t>
            </a:r>
            <a:r>
              <a:rPr sz="1350">
                <a:solidFill>
                  <a:srgbClr val="334155"/>
                </a:solidFill>
                <a:latin typeface="Calibri"/>
              </a:rPr>
              <a:t>Filters act as specialized feature detectors, yielding high positive activations when matching patterns appear.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Dual Foundations of Convolutional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Inductive Biases Drastically Reduce Parameter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Core Inductive Biases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Axiom 1: Local Connectivity: </a:t>
            </a:r>
            <a:r>
              <a:rPr sz="1350">
                <a:solidFill>
                  <a:srgbClr val="334155"/>
                </a:solidFill>
                <a:latin typeface="Calibri"/>
              </a:rPr>
              <a:t>Each hidden neuron connects exclusively to a small spatial patch (K x K), reflecting the physical law that nearby pixels are strongly correlated.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Axiom 2: Weight Sharing: </a:t>
            </a:r>
            <a:r>
              <a:rPr sz="1350">
                <a:solidFill>
                  <a:srgbClr val="334155"/>
                </a:solidFill>
                <a:latin typeface="Calibri"/>
              </a:rPr>
              <a:t>The identical filter coefficients are reused across all spatial coordinates, guaranteeing translation equivariance: f(g(x)) = g(f(x)).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Statistical Efficiency: </a:t>
            </a:r>
            <a:r>
              <a:rPr sz="1350">
                <a:solidFill>
                  <a:srgbClr val="334155"/>
                </a:solidFill>
                <a:latin typeface="Calibri"/>
              </a:rPr>
              <a:t>Instead of learning millions of uncoordinated weights, the network learns a compact set of universal feature detectors.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42255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quivariance_vs_in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271" y="2217420"/>
            <a:ext cx="5961888" cy="2980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1983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Translation Equivariance: Shifting Input Shifts Output Maps Identically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Spatial Hyperparameters: Stride &amp; Padding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Exact Boundary Control and Output Spatial Dimension Arithmetic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v_same_padding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782" y="1801368"/>
            <a:ext cx="1343394" cy="1527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438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Same Padding: Zero-Boundary Padding Preserves Spatial Grid Dimensions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v_strides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049" y="4087367"/>
            <a:ext cx="1558861" cy="1527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724143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Stride S = 2: Skips Intermediate Pixels for Spatial Subsampling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Hyperparameter Control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Output Dimension Equation: </a:t>
            </a:r>
            <a:r>
              <a:rPr sz="1350">
                <a:solidFill>
                  <a:srgbClr val="334155"/>
                </a:solidFill>
                <a:latin typeface="Calibri"/>
              </a:rPr>
              <a:t>Universal spatial resolution formula: H_{out} = floor((H_{in} - K + 2P) / S) + 1.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Padding Modes: </a:t>
            </a:r>
            <a:r>
              <a:rPr sz="1350">
                <a:solidFill>
                  <a:srgbClr val="334155"/>
                </a:solidFill>
                <a:latin typeface="Calibri"/>
              </a:rPr>
              <a:t>Valid padding (P = 0) contracts boundaries; Same padding (P = (K - 1) / 2) preserves spatial resolution (H_{out} = H_{in}).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Stride Subsampling: </a:t>
            </a:r>
            <a:r>
              <a:rPr sz="1350">
                <a:solidFill>
                  <a:srgbClr val="334155"/>
                </a:solidFill>
                <a:latin typeface="Calibri"/>
              </a:rPr>
              <a:t>Stride S &gt; 1 steps across multiple pixels per operation, halving spatial dimensions while expanding the receptive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Receptive Field Growth Across Deep Stacks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Stacking Small 3x3 Filters Yields Exponential Spatial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eptive_field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17420"/>
            <a:ext cx="5961888" cy="2980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Receptive Field Arithmetic: Stacking 3x3 Kernels Yields 5x5 and 7x7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Receptive Field Dynamics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Recursive RF Formula: </a:t>
            </a:r>
            <a:r>
              <a:rPr sz="1350">
                <a:solidFill>
                  <a:srgbClr val="334155"/>
                </a:solidFill>
                <a:latin typeface="Calibri"/>
              </a:rPr>
              <a:t>Receptive field expands recursively: RF_l = RF_{l-1} + (K_l - 1) * Product_{i=1}^{l-1} S_i.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The VGG-16 Architectural Law: </a:t>
            </a:r>
            <a:r>
              <a:rPr sz="1350">
                <a:solidFill>
                  <a:srgbClr val="334155"/>
                </a:solidFill>
                <a:latin typeface="Calibri"/>
              </a:rPr>
              <a:t>Two stacked 3 x 3 convolutions match the 5 x 5 receptive field of a single 5 x 5 layer with 18 parameters vs 25 (28% savings) plus extra non-linearity.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Hierarchical Context: </a:t>
            </a:r>
            <a:r>
              <a:rPr sz="1350">
                <a:solidFill>
                  <a:srgbClr val="334155"/>
                </a:solidFill>
                <a:latin typeface="Calibri"/>
              </a:rPr>
              <a:t>Deep layers integrate global visual context without requiring large, computationally prohibitive kernel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Volumetric 3D Tensor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Multichannel Feature Mapping Across Spatial and Depth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s231n_convne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80364"/>
            <a:ext cx="5961888" cy="28550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Stanford CS231n Volumetric Convolution: C_in x H x W Convolved into C_out Feature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Multichannel Tensor Flow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Tensor Volume Shape: </a:t>
            </a:r>
            <a:r>
              <a:rPr sz="1350">
                <a:solidFill>
                  <a:srgbClr val="334155"/>
                </a:solidFill>
                <a:latin typeface="Calibri"/>
              </a:rPr>
              <a:t>Input tensor (C_{in} x H x W) is processed by C_{out} separate 3D filters, each having shape (C_{in} x K_h x K_w).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Channel-Wise Summation: </a:t>
            </a:r>
            <a:r>
              <a:rPr sz="1350">
                <a:solidFill>
                  <a:srgbClr val="334155"/>
                </a:solidFill>
                <a:latin typeface="Calibri"/>
              </a:rPr>
              <a:t>Each 3D filter computes 2D convolutions across all C_{in} channels simultaneously, summing the results into one 2D feature map slice.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Channel Expansion: </a:t>
            </a:r>
            <a:r>
              <a:rPr sz="1350">
                <a:solidFill>
                  <a:srgbClr val="334155"/>
                </a:solidFill>
                <a:latin typeface="Calibri"/>
              </a:rPr>
              <a:t>Stacking C_{out} filter responses produces the output volume of shape (C_{out} x H_{out} x W_{out}).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Universal Parameter Counting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Exact Parameter Derivation Independent of Spatial Input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ameter_formula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17420"/>
            <a:ext cx="5961888" cy="2980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Analytical Parameter Breakdown: (Kernel Area x Input Channels + Bias) x Output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Exact Mathematical Derivation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Universal Parameter Equation: </a:t>
            </a:r>
            <a:r>
              <a:rPr sz="1350">
                <a:solidFill>
                  <a:srgbClr val="334155"/>
                </a:solidFill>
                <a:latin typeface="Calibri"/>
              </a:rPr>
              <a:t>Total learnable weights: Params = (K_h * K_w * C_{in} + 1) * C_{out}, where +1 accounts for the per-filter bias.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Resolution Independence: </a:t>
            </a:r>
            <a:r>
              <a:rPr sz="1350">
                <a:solidFill>
                  <a:srgbClr val="334155"/>
                </a:solidFill>
                <a:latin typeface="Calibri"/>
              </a:rPr>
              <a:t>The parameter count depends strictly on kernel dimensions and channel counts, completely independent of input image height (H) and width (W).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Concrete Example: </a:t>
            </a:r>
            <a:r>
              <a:rPr sz="1350">
                <a:solidFill>
                  <a:srgbClr val="334155"/>
                </a:solidFill>
                <a:latin typeface="Calibri"/>
              </a:rPr>
              <a:t>A layer with K = 3, C_{in} = 64, C_{out} = 128 requires (3 * 3 * 64 + 1) * 128 = 73,856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Non-Linear Activations &amp; Sparsity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Rectified Linear Unit (ReLU) Mechanics and Gradient Flow Preservation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ReLU Activation Dynamics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The ReLU Definition: </a:t>
            </a:r>
            <a:r>
              <a:rPr sz="1350">
                <a:solidFill>
                  <a:srgbClr val="334155"/>
                </a:solidFill>
                <a:latin typeface="Calibri"/>
              </a:rPr>
              <a:t>f(x) = max(0, x), with analytical derivative f'(x) = 1 for x &gt; 0 and 0 for x &lt; 0.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Vanishing Gradient Cure: </a:t>
            </a:r>
            <a:r>
              <a:rPr sz="1350">
                <a:solidFill>
                  <a:srgbClr val="334155"/>
                </a:solidFill>
                <a:latin typeface="Calibri"/>
              </a:rPr>
              <a:t>Unlike Sigmoid/Tanh which saturate at extreme values, ReLU maintains a constant gradient of 1, enabling stable training of 100+ layer networks.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Induced Sparsity: </a:t>
            </a:r>
            <a:r>
              <a:rPr sz="1350">
                <a:solidFill>
                  <a:srgbClr val="334155"/>
                </a:solidFill>
                <a:latin typeface="Calibri"/>
              </a:rPr>
              <a:t>Deactivating negative activations creates biological-like sparse representations (~50% active neurons), improving generalization.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42255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s231n_act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808" y="1801368"/>
            <a:ext cx="3826813" cy="3813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51983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Visualizing Spatial Activation Maps After Non-Linear ReLU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Spatial Downsampling &amp; Max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Translation Invariance Induction and Dimensionality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x_p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82082"/>
            <a:ext cx="5961888" cy="3451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Max Pooling 2x2 with Stride 2: Extracts Peak Activation per Local Quadrant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Spatial Downsampling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Max Pooling Operation: </a:t>
            </a:r>
            <a:r>
              <a:rPr sz="1350">
                <a:solidFill>
                  <a:srgbClr val="334155"/>
                </a:solidFill>
                <a:latin typeface="Calibri"/>
              </a:rPr>
              <a:t>Slides a 2 x 2 window with stride 2, retaining the maximum activation and discarding 75% of spatial coordinates.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Translation Invariance: </a:t>
            </a:r>
            <a:r>
              <a:rPr sz="1350">
                <a:solidFill>
                  <a:srgbClr val="334155"/>
                </a:solidFill>
                <a:latin typeface="Calibri"/>
              </a:rPr>
              <a:t>Small translations or deformations in the input feature map do not change the pooled maximum value, improving spatial robustness.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Zero Learnable Parameters: </a:t>
            </a:r>
            <a:r>
              <a:rPr sz="1350">
                <a:solidFill>
                  <a:srgbClr val="334155"/>
                </a:solidFill>
                <a:latin typeface="Calibri"/>
              </a:rPr>
              <a:t>Pooling is a deterministic spatial operation requiring zero parameters, reducing memory footprint and computational FLOPs.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Hierarchical Feature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Visual Progression from Low-Level Edges to High-Level Semantic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n_hierarch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82" y="1801368"/>
            <a:ext cx="3490395" cy="1527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438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Visual Feature Abstraction Progression: Edges -&gt; Textures -&gt; Parts -&gt;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s231n_weigh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18" y="4087367"/>
            <a:ext cx="3860722" cy="1527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724143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Learned Convolutional Filter Weights Visualized as Spatial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4338CA"/>
                </a:solidFill>
                <a:latin typeface="Segoe UI"/>
              </a:defRPr>
            </a:pPr>
            <a:r>
              <a:t>Hierarchical Abstraction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Shallow Layers (V1): </a:t>
            </a:r>
            <a:r>
              <a:rPr sz="1350">
                <a:solidFill>
                  <a:srgbClr val="334155"/>
                </a:solidFill>
                <a:latin typeface="Calibri"/>
              </a:rPr>
              <a:t>Filters learn localized oriented Gabor-like edges, color contrasts, and boundary primitives.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Intermediate Layers: </a:t>
            </a:r>
            <a:r>
              <a:rPr sz="1350">
                <a:solidFill>
                  <a:srgbClr val="334155"/>
                </a:solidFill>
                <a:latin typeface="Calibri"/>
              </a:rPr>
              <a:t>Convolutions combine simple edges into geometric textures, corners, junctions, and contour curves.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Deep Layers: </a:t>
            </a:r>
            <a:r>
              <a:rPr sz="1350">
                <a:solidFill>
                  <a:srgbClr val="334155"/>
                </a:solidFill>
                <a:latin typeface="Calibri"/>
              </a:rPr>
              <a:t>Receptive fields span the entire object, assembling semantic class detectors (wheels, eyes, faces, class templates).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Neocognitron (1980)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Kunihiko Fukushima's Bio-Inspired Ancestor of Convolutional Neural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ocognitron_Scholar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12" y="1801368"/>
            <a:ext cx="5466735" cy="3813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Neocognitron (Fukushima, 1980): Hierarchical Alternation of S-Layers and C-Layers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4338CA"/>
                </a:solidFill>
                <a:latin typeface="Segoe UI"/>
              </a:defRPr>
            </a:pPr>
            <a:r>
              <a:t>The Biological Computational Ancestor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S-Cells &amp; C-Cells: </a:t>
            </a:r>
            <a:r>
              <a:rPr sz="1350">
                <a:solidFill>
                  <a:srgbClr val="334155"/>
                </a:solidFill>
                <a:latin typeface="Calibri"/>
              </a:rPr>
              <a:t>Directly embodied Hubel &amp; Wiesel's neurobiology: S-cells extract localized oriented features, while C-cells pool responses to provide shift tolerance.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Self-Organizing Architecture: </a:t>
            </a:r>
            <a:r>
              <a:rPr sz="1350">
                <a:solidFill>
                  <a:srgbClr val="334155"/>
                </a:solidFill>
                <a:latin typeface="Calibri"/>
              </a:rPr>
              <a:t>Introduced multi-layered hierarchical visual processing without backpropagation, establishing the foundational alternating conv-pool design.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Translation Invariance: </a:t>
            </a:r>
            <a:r>
              <a:rPr sz="1350">
                <a:solidFill>
                  <a:srgbClr val="334155"/>
                </a:solidFill>
                <a:latin typeface="Calibri"/>
              </a:rPr>
              <a:t>First computational neural model capable of recognizing deformed and translated patterns through localized receptive field hierarchies.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LeNet-5 (1998)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Yann LeCun's End-to-End Gradient-Based Convolutional Network for Digit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net5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LeNet-5 Architecture: 7 Layers of Alternating Convolutions and Subsampling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Genesis of Modern Deep Vision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End-to-End Gradient Optimization: </a:t>
            </a:r>
            <a:r>
              <a:rPr sz="1350">
                <a:solidFill>
                  <a:srgbClr val="334155"/>
                </a:solidFill>
                <a:latin typeface="Calibri"/>
              </a:rPr>
              <a:t>Pioneered joint feature extraction and classification optimized simultaneously via backpropagation: Input -&gt; C1 -&gt; S2 -&gt; C3 -&gt; S4 -&gt; C5 -&gt; F6 -&gt; Output.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Shift and Distortion Robustness: </a:t>
            </a:r>
            <a:r>
              <a:rPr sz="1350">
                <a:solidFill>
                  <a:srgbClr val="334155"/>
                </a:solidFill>
                <a:latin typeface="Calibri"/>
              </a:rPr>
              <a:t>Replaced fragile manual feature extractors with weight-shared convolutional filters and subsampling layers.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Commercial Validation: </a:t>
            </a:r>
            <a:r>
              <a:rPr sz="1350">
                <a:solidFill>
                  <a:srgbClr val="334155"/>
                </a:solidFill>
                <a:latin typeface="Calibri"/>
              </a:rPr>
              <a:t>Successfully deployed by US banks to read over 10% of all checks in North America during the late 1990s.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AlexNet (2012)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The ImageNet Breakthrough That Ignited the Modern Deep Learning Revolution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exne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919325"/>
            <a:ext cx="5961888" cy="35771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AlexNet Architecture: 8 Layers Split Across Dual-GPU Parallel Processing Pipelines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The Modern Deep Learning Revolution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Historical Breakthrough: </a:t>
            </a:r>
            <a:r>
              <a:rPr sz="1350">
                <a:solidFill>
                  <a:srgbClr val="334155"/>
                </a:solidFill>
                <a:latin typeface="Calibri"/>
              </a:rPr>
              <a:t>Crushed traditional computer vision by winning ImageNet 2012 with a top-5 error of 16.4% (vs. 26.2% for the runner-up).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Modern Technical Suite: </a:t>
            </a:r>
            <a:r>
              <a:rPr sz="1350">
                <a:solidFill>
                  <a:srgbClr val="334155"/>
                </a:solidFill>
                <a:latin typeface="Calibri"/>
              </a:rPr>
              <a:t>First to combine ReLU non-linearities (6x faster training), Dropout regularization (0.5), and data augmentation to prevent overfitting.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GPU Parallel Acceleration: </a:t>
            </a:r>
            <a:r>
              <a:rPr sz="1350">
                <a:solidFill>
                  <a:srgbClr val="334155"/>
                </a:solidFill>
                <a:latin typeface="Calibri"/>
              </a:rPr>
              <a:t>Engineered across two NVIDIA GTX 580 GPUs with cross-channel grouping, unlocking large-scale visual representation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VGGNet (2014)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The Power of Simplicity: Standardizing Homogeneous 3x3 Convolution Stacks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gg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VGG-16 Architecture: 5 Homogeneous 3x3 Convolutional Blocks + Fully-Connected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The 3x3 Convolution Standard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Filter Factorization: </a:t>
            </a:r>
            <a:r>
              <a:rPr sz="1350">
                <a:solidFill>
                  <a:srgbClr val="334155"/>
                </a:solidFill>
                <a:latin typeface="Calibri"/>
              </a:rPr>
              <a:t>Proved that two stacked 3x3 convolutions have an effective 5x5 receptive field, and three have 7x7, while saving 28% parameters and adding non-linearities.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Homogeneous Modular Design: </a:t>
            </a:r>
            <a:r>
              <a:rPr sz="1350">
                <a:solidFill>
                  <a:srgbClr val="334155"/>
                </a:solidFill>
                <a:latin typeface="Calibri"/>
              </a:rPr>
              <a:t>Replaced diverse kernel sizes with clean, uniform convolutional blocks: Conv(3x3) -&gt; BatchNorm -&gt; ReLU -&gt; MaxPool(2x2).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Deep Backbone Standard: </a:t>
            </a:r>
            <a:r>
              <a:rPr sz="1350">
                <a:solidFill>
                  <a:srgbClr val="334155"/>
                </a:solidFill>
                <a:latin typeface="Calibri"/>
              </a:rPr>
              <a:t>VGG-16 and VGG-19 established the standard deep feature extraction backbone across computer vision transfer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GoogLeNet / Inception (2014)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Multi-Scale Feature Processing and 1x1 Bottleneck Dimensionality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ception_modu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GoogLeNet Inception Module: Parallel Multi-Scale Convolutions + 1x1 Channel Bottlenecks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Multi-Scale Efficiency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Multi-Scale Inception Modules: </a:t>
            </a:r>
            <a:r>
              <a:rPr sz="1350">
                <a:solidFill>
                  <a:srgbClr val="334155"/>
                </a:solidFill>
                <a:latin typeface="Calibri"/>
              </a:rPr>
              <a:t>Processes input features simultaneously at multiple spatial scales (1x1, 3x3, 5x5) and pooling in parallel, concatenating depth responses.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1x1 Bottleneck Convolutions: </a:t>
            </a:r>
            <a:r>
              <a:rPr sz="1350">
                <a:solidFill>
                  <a:srgbClr val="334155"/>
                </a:solidFill>
                <a:latin typeface="Calibri"/>
              </a:rPr>
              <a:t>Introduced 1x1 convolutions for channel-dimension reduction before expensive 3x3 and 5x5 filters, curbing computational complexity.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Global Average Pooling: </a:t>
            </a:r>
            <a:r>
              <a:rPr sz="1350">
                <a:solidFill>
                  <a:srgbClr val="334155"/>
                </a:solidFill>
                <a:latin typeface="Calibri"/>
              </a:rPr>
              <a:t>Replaced massive fully-connected layers with Global Average Pooling (GAP), dropping total model parameters from 138M (VGG) to just 5M.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ResNet (2015)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Deep Residual Learning: Conquering the Degradation Ceiling with Identity Skip Highways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snet_skip_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18055"/>
            <a:ext cx="5961888" cy="3179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ResNet Residual Block: Identity Connection H(x) = F(x) + x Providing Direct Gradient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Deep Residual Learning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The Degradation Dilemma: </a:t>
            </a:r>
            <a:r>
              <a:rPr sz="1350">
                <a:solidFill>
                  <a:srgbClr val="334155"/>
                </a:solidFill>
                <a:latin typeface="Calibri"/>
              </a:rPr>
              <a:t>Beyond ~20 layers, plain networks suffer accuracy degradation (higher training error), not caused by overfitting but vanishing gradients.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Identity Skip Highway: </a:t>
            </a:r>
            <a:r>
              <a:rPr sz="1350">
                <a:solidFill>
                  <a:srgbClr val="334155"/>
                </a:solidFill>
                <a:latin typeface="Calibri"/>
              </a:rPr>
              <a:t>Formulated residual learning: H(x) = F(x) + x. The identity connection ensures gradient flow dH/dx = dF/dx + 1 directly back to early layers.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Superhuman Accuracy: </a:t>
            </a:r>
            <a:r>
              <a:rPr sz="1350">
                <a:solidFill>
                  <a:srgbClr val="334155"/>
                </a:solidFill>
                <a:latin typeface="Calibri"/>
              </a:rPr>
              <a:t>Scaled to 152 layers, winning ImageNet 2015 with a record 3.57% top-5 error, surpassing human-level visual performance (5.1%).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DenseNet (2017)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Dense Connectivity &amp; Feature Reuse: Concatenation Replaces Residual Addition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nsene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DenseNet Architecture: Dense Block Connectivity with k Growth Rate &amp; Transition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Dense Feature Concatenation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Full Feed-Forward Connectivity: </a:t>
            </a:r>
            <a:r>
              <a:rPr sz="1350">
                <a:solidFill>
                  <a:srgbClr val="334155"/>
                </a:solidFill>
                <a:latin typeface="Calibri"/>
              </a:rPr>
              <a:t>Connects each layer to all subsequent layers: X_l = H_l([X_0, X_1, ..., X_{l-1}]), passing feature maps directly via concatenation.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Compact Growth Rate (k): </a:t>
            </a:r>
            <a:r>
              <a:rPr sz="1350">
                <a:solidFill>
                  <a:srgbClr val="334155"/>
                </a:solidFill>
                <a:latin typeface="Calibri"/>
              </a:rPr>
              <a:t>Each layer contributes only k new feature channels (k=12 to 32), preventing redundant filter learning and shrinking parameters.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Direct Gradient Flow: </a:t>
            </a:r>
            <a:r>
              <a:rPr sz="1350">
                <a:solidFill>
                  <a:srgbClr val="334155"/>
                </a:solidFill>
                <a:latin typeface="Calibri"/>
              </a:rPr>
              <a:t>Eliminates vanishing gradients by ensuring early layers receive loss gradients directly from the loss function.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U-Net (2015)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Symmetric Encoder-Decoder Network for Dense Pixel-Level Semantic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e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U-Net Architecture: Contracting Encoder + Expanding Decoder + Horizontal Skip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Dense Semantic Segmentation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Dense Prediction Paradigm: </a:t>
            </a:r>
            <a:r>
              <a:rPr sz="1350">
                <a:solidFill>
                  <a:srgbClr val="334155"/>
                </a:solidFill>
                <a:latin typeface="Calibri"/>
              </a:rPr>
              <a:t>Transitions from global classification (Image -&gt; Class) to dense pixel-level labeling (Image -&gt; Segmentation Mask).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Contracting &amp; Expanding Paths: </a:t>
            </a:r>
            <a:r>
              <a:rPr sz="1350">
                <a:solidFill>
                  <a:srgbClr val="334155"/>
                </a:solidFill>
                <a:latin typeface="Calibri"/>
              </a:rPr>
              <a:t>Encoder contracts spatial dimensions to capture context; symmetrical decoder upsamples feature maps to restore precise spatial resolution.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Direct Skip Copy Channels: </a:t>
            </a:r>
            <a:r>
              <a:rPr sz="1350">
                <a:solidFill>
                  <a:srgbClr val="334155"/>
                </a:solidFill>
                <a:latin typeface="Calibri"/>
              </a:rPr>
              <a:t>High-resolution skip connections directly copy spatial feature maps from encoder to decoder, preserving crisp object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MobileNet (2017)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Depthwise Separable Convolutions: 8x to 9x FLOP Reduction for Edge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ilenet_depthwi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MobileNet Factorization: Depthwise (Spatial) + Pointwise (Channel) = 88% FLOPs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EA580C"/>
                </a:solidFill>
                <a:latin typeface="Segoe UI"/>
              </a:defRPr>
            </a:pPr>
            <a:r>
              <a:t>Edge &amp; Mobile Efficiency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Depthwise Factorization: </a:t>
            </a:r>
            <a:r>
              <a:rPr sz="1350">
                <a:solidFill>
                  <a:srgbClr val="334155"/>
                </a:solidFill>
                <a:latin typeface="Calibri"/>
              </a:rPr>
              <a:t>Splits standard 3D convolutions into two steps: Depthwise Conv (spatial filtering per channel) + Pointwise Conv (1x1 channel combination).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Massive Computational Savings: </a:t>
            </a:r>
            <a:r>
              <a:rPr sz="1350">
                <a:solidFill>
                  <a:srgbClr val="334155"/>
                </a:solidFill>
                <a:latin typeface="Calibri"/>
              </a:rPr>
              <a:t>Reduces multiplication FLOPs by 1/N + 1/K^2 ≈ 8x to 9x compared to standard convolutions with only ~1% top-1 accuracy loss.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Real-Time Mobile Vision: </a:t>
            </a:r>
            <a:r>
              <a:rPr sz="1350">
                <a:solidFill>
                  <a:srgbClr val="334155"/>
                </a:solidFill>
                <a:latin typeface="Calibri"/>
              </a:rPr>
              <a:t>Enabled real-time high-accuracy deep computer vision on battery-powered mobile phones, embedded robotics, and edge IoT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EfficientNet (2019)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Principled Compound Model Scaling Across Depth, Width, and Input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fficientnet_scal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EfficientNet Compound Scaling: Balanced Growth of Depth, Width, and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Principled Model Scaling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Compound Scaling Principle: </a:t>
            </a:r>
            <a:r>
              <a:rPr sz="1350">
                <a:solidFill>
                  <a:srgbClr val="334155"/>
                </a:solidFill>
                <a:latin typeface="Calibri"/>
              </a:rPr>
              <a:t>Systematically balances Depth (alpha), Width (beta), and Resolution (gamma) via: alpha * beta^2 * gamma^2 ≈ 2 under a unified compound coefficient phi.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Eliminating Scaling Bottlenecks: </a:t>
            </a:r>
            <a:r>
              <a:rPr sz="1350">
                <a:solidFill>
                  <a:srgbClr val="334155"/>
                </a:solidFill>
                <a:latin typeface="Calibri"/>
              </a:rPr>
              <a:t>Proved that scaling only width, depth, or resolution quickly saturates; balanced co-scaling yields superior accuracy at lower FLOPs.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State-of-the-Art Efficiency: </a:t>
            </a:r>
            <a:r>
              <a:rPr sz="1350">
                <a:solidFill>
                  <a:srgbClr val="334155"/>
                </a:solidFill>
                <a:latin typeface="Calibri"/>
              </a:rPr>
              <a:t>EfficientNet-B7 reached 84.3% top-1 ImageNet accuracy while being 8.4x smaller and 6.1x faster than prior state-of-the-art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SENet (2018)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Adaptive Channel Attention: Dynamic Channel Recalibration (Y = X ⊙ 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net_se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SENet Squeeze-and-Excitation Block: Global Squeeze + MLP Excitation + Channel Recalibration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Channel-Wise Attention Gating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Squeeze Operation: </a:t>
            </a:r>
            <a:r>
              <a:rPr sz="1350">
                <a:solidFill>
                  <a:srgbClr val="334155"/>
                </a:solidFill>
                <a:latin typeface="Calibri"/>
              </a:rPr>
              <a:t>Global Average Pooling (GAP) aggregates global spatial context into a 1x1xC channel descriptor vector z.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Excitation Gating: </a:t>
            </a:r>
            <a:r>
              <a:rPr sz="1350">
                <a:solidFill>
                  <a:srgbClr val="334155"/>
                </a:solidFill>
                <a:latin typeface="Calibri"/>
              </a:rPr>
              <a:t>A two-layer bottleneck MLP (FC -&gt; ReLU -&gt; FC -&gt; Sigmoid) models non-linear channel interdependencies with reduction ratio r=16.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Dynamic Recalibration: </a:t>
            </a:r>
            <a:r>
              <a:rPr sz="1350">
                <a:solidFill>
                  <a:srgbClr val="334155"/>
                </a:solidFill>
                <a:latin typeface="Calibri"/>
              </a:rPr>
              <a:t>Reweights each channel by scalar activation s_c in [0, 1], dynamically amplifying task-salient features while suppressing background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CBAM (2018)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Convolutional Block Attention Module: Sequential Channel and Spatial Refinement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bam_atten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CBAM Sequential Attention: Channel Module (What) -&gt; Spatial Module (Where) -&gt; Refined Tensor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Dual Sequential Attention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Sequential Dual Attention: </a:t>
            </a:r>
            <a:r>
              <a:rPr sz="1350">
                <a:solidFill>
                  <a:srgbClr val="334155"/>
                </a:solidFill>
                <a:latin typeface="Calibri"/>
              </a:rPr>
              <a:t>Combines Channel Attention (learning 'What' features are important) followed by Spatial Attention (learning 'Where' to look).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Dual Pooling Aggregation: </a:t>
            </a:r>
            <a:r>
              <a:rPr sz="1350">
                <a:solidFill>
                  <a:srgbClr val="334155"/>
                </a:solidFill>
                <a:latin typeface="Calibri"/>
              </a:rPr>
              <a:t>Utilizes both Average-Pooling (background features) and Max-Pooling (distinct object features) inside attention generation.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Plug-and-Play Integration: </a:t>
            </a:r>
            <a:r>
              <a:rPr sz="1350">
                <a:solidFill>
                  <a:srgbClr val="334155"/>
                </a:solidFill>
                <a:latin typeface="Calibri"/>
              </a:rPr>
              <a:t>Lightweight attention block with negligible parameter overhead, easily integrated into standard ResNet or MobileNet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Milestone: Vision Transformer (2020)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An Image is Worth 16x16 Words: Discarding Convolutions for Global Self-Attention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Vision Transformer (ViT): Patch Embedding -&gt; Transformer Encoder -&gt; Multi-Head Self-Attention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Tokenized Visual Transformers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Patch Tokenization: </a:t>
            </a:r>
            <a:r>
              <a:rPr sz="1350">
                <a:solidFill>
                  <a:srgbClr val="334155"/>
                </a:solidFill>
                <a:latin typeface="Calibri"/>
              </a:rPr>
              <a:t>Unfolds a 224x224x3 image into 196 non-overlapping 16x16 patches, linearly projecting each into a latent 1D embedding token.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Pure Self-Attention: </a:t>
            </a:r>
            <a:r>
              <a:rPr sz="1350">
                <a:solidFill>
                  <a:srgbClr val="334155"/>
                </a:solidFill>
                <a:latin typeface="Calibri"/>
              </a:rPr>
              <a:t>Processes tokens via Multi-Head Self-Attention: Attention(Q,K,V) = softmax(QK^T / sqrt(d_k)) V, capturing global context across the entire image.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Massive Scale Dominance: </a:t>
            </a:r>
            <a:r>
              <a:rPr sz="1350">
                <a:solidFill>
                  <a:srgbClr val="334155"/>
                </a:solidFill>
                <a:latin typeface="Calibri"/>
              </a:rPr>
              <a:t>Eliminates spatial inductive priors in favor of high model capacity, outperforming CNNs when pretrained on massive datasets (JFT-300M).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Architectural Paradigm: CNN vs. Vision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Comparing Inductive Priors, Computational Complexity, and Modern Frontiers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n_vs_transform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27723"/>
            <a:ext cx="5961888" cy="3360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Inductive Bias &amp; Tradeoff Matrix: Local Convolutions vs. Global Self-Attention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4338CA"/>
                </a:solidFill>
                <a:latin typeface="Segoe UI"/>
              </a:defRPr>
            </a:pPr>
            <a:r>
              <a:t>Architectural Tradeoff Synthesis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Inductive Bias Dichotomy: </a:t>
            </a:r>
            <a:r>
              <a:rPr sz="1350">
                <a:solidFill>
                  <a:srgbClr val="334155"/>
                </a:solidFill>
                <a:latin typeface="Calibri"/>
              </a:rPr>
              <a:t>CNNs encode hard spatial priors (locality &amp; shift equivariance), while ViTs learn relationships entirely from raw data with zero geometric assumptions.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Computational Asymmetry: </a:t>
            </a:r>
            <a:r>
              <a:rPr sz="1350">
                <a:solidFill>
                  <a:srgbClr val="334155"/>
                </a:solidFill>
                <a:latin typeface="Calibri"/>
              </a:rPr>
              <a:t>Convolutions scale linearly with pixel resolution O(K^2 H W), whereas standard self-attention scales quadratically with tokens O(N^2).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Modern Convergence: </a:t>
            </a:r>
            <a:r>
              <a:rPr sz="1350">
                <a:solidFill>
                  <a:srgbClr val="334155"/>
                </a:solidFill>
                <a:latin typeface="Calibri"/>
              </a:rPr>
              <a:t>State-of-the-art vision models unite both worlds: ConvNeXt modernizes pure CNNs with ViT design, while MaxViT blends local convs with global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Canonical CNN Architecture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The Standard Topology from Raw Input Pixels to Class Logits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ypical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790678"/>
            <a:ext cx="5961888" cy="1834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End-to-End CNN Pipeline: Input -&gt; Feature Extractor Backbone -&gt; Classifier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284C7"/>
                </a:solidFill>
                <a:latin typeface="Segoe UI"/>
              </a:defRPr>
            </a:pPr>
            <a:r>
              <a:t>Canonical Visual Pipeline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Feature Extraction Backbone: </a:t>
            </a:r>
            <a:r>
              <a:rPr sz="1350">
                <a:solidFill>
                  <a:srgbClr val="334155"/>
                </a:solidFill>
                <a:latin typeface="Calibri"/>
              </a:rPr>
              <a:t>Alternating blocks of Convolution, ReLU activation, and Spatial Pooling progressively extract invariant feature representations.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Transition to Classification: </a:t>
            </a:r>
            <a:r>
              <a:rPr sz="1350">
                <a:solidFill>
                  <a:srgbClr val="334155"/>
                </a:solidFill>
                <a:latin typeface="Calibri"/>
              </a:rPr>
              <a:t>Global spatial pooling or flattening compresses high-dimensional feature volumes into a compact 1D latent representation.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Decision Head: </a:t>
            </a:r>
            <a:r>
              <a:rPr sz="1350">
                <a:solidFill>
                  <a:srgbClr val="334155"/>
                </a:solidFill>
                <a:latin typeface="Calibri"/>
              </a:rPr>
              <a:t>Fully-connected layers followed by Softmax compute categorical probability distributions over target classes.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Tensor Contraction &amp; Channel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Geometric Downsampling Paired with Semantic Capacity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nsor_shape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98045"/>
            <a:ext cx="5961888" cy="32196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Tensor Flow: Spatial Contraction [224 -&gt; 7] &amp; Channel Expansion [3 -&gt; 512]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7C3AED"/>
                </a:solidFill>
                <a:latin typeface="Segoe UI"/>
              </a:defRPr>
            </a:pPr>
            <a:r>
              <a:t>Tensor Flow Dynamics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Spatial Resolution Contraction: </a:t>
            </a:r>
            <a:r>
              <a:rPr sz="1350">
                <a:solidFill>
                  <a:srgbClr val="334155"/>
                </a:solidFill>
                <a:latin typeface="Calibri"/>
              </a:rPr>
              <a:t>Spatial dimensions contract geometrically: 224x224 -&gt; 112x112 -&gt; 56x56 -&gt; 28x28 -&gt; 7x7 via pooling and strided convolutions.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Channel Capacity Growth: </a:t>
            </a:r>
            <a:r>
              <a:rPr sz="1350">
                <a:solidFill>
                  <a:srgbClr val="334155"/>
                </a:solidFill>
                <a:latin typeface="Calibri"/>
              </a:rPr>
              <a:t>Channel counts expand inversely: 3 -&gt; 64 -&gt; 128 -&gt; 256 -&gt; 512, allocating greater capacity to rich semantic combinations.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Conservation of Information: </a:t>
            </a:r>
            <a:r>
              <a:rPr sz="1350">
                <a:solidFill>
                  <a:srgbClr val="334155"/>
                </a:solidFill>
                <a:latin typeface="Calibri"/>
              </a:rPr>
              <a:t>Local pixel redundancy is traded for abstract, translation-invariant semantic feature vectors.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Computational Asymmetry: FLOPs vs.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Convolutions Dominate Compute; Fully-Connected Layers Dominate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ps_params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369181"/>
            <a:ext cx="5961888" cy="2677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24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Workload Asymmetry: Convolutions Consume Compute; Dense Layers Consume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EA580C"/>
                </a:solidFill>
                <a:latin typeface="Segoe UI"/>
              </a:defRPr>
            </a:pPr>
            <a:r>
              <a:t>System Resource Tradeoffs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Compute Bottleneck (FLOPs): </a:t>
            </a:r>
            <a:r>
              <a:rPr sz="1350">
                <a:solidFill>
                  <a:srgbClr val="334155"/>
                </a:solidFill>
                <a:latin typeface="Calibri"/>
              </a:rPr>
              <a:t>Convolutions consume &gt;90% of total floating-point operations due to sliding window dot products across high-resolution grids.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Memory Bottleneck (Parameters): </a:t>
            </a:r>
            <a:r>
              <a:rPr sz="1350">
                <a:solidFill>
                  <a:srgbClr val="334155"/>
                </a:solidFill>
                <a:latin typeface="Calibri"/>
              </a:rPr>
              <a:t>Fully-connected layers account for &gt;90% of model weights due to dense pairwise matrix multiplication.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Modern Solution: Global Pooling: </a:t>
            </a:r>
            <a:r>
              <a:rPr sz="1350">
                <a:solidFill>
                  <a:srgbClr val="334155"/>
                </a:solidFill>
                <a:latin typeface="Calibri"/>
              </a:rPr>
              <a:t>Modern architectures replace dense layers with Global Average Pooling (GAP), eliminating millions of redundant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Three Architectural Abstraction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From Low-Level Vectorized Matrix Math to Declarative &amp; Imperative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LEVEL 1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NumPy (From Scratch)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Vectorized im2col: </a:t>
            </a:r>
            <a:r>
              <a:rPr sz="1200">
                <a:solidFill>
                  <a:srgbClr val="334155"/>
                </a:solidFill>
                <a:latin typeface="Calibri"/>
              </a:rPr>
              <a:t>Flattens sliding windows into matrices for BLAS GEMM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Manual Backprop: </a:t>
            </a:r>
            <a:r>
              <a:rPr sz="1200">
                <a:solidFill>
                  <a:srgbClr val="334155"/>
                </a:solidFill>
                <a:latin typeface="Calibri"/>
              </a:rPr>
              <a:t>Analytical col2im gradient redistribution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Educational Value: </a:t>
            </a:r>
            <a:r>
              <a:rPr sz="1200">
                <a:solidFill>
                  <a:srgbClr val="334155"/>
                </a:solidFill>
                <a:latin typeface="Calibri"/>
              </a:rPr>
              <a:t>100% transparency of internal tensor mechanics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9164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200"/>
              </a:spcAft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LEVEL 2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Keras (Declarative)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284C7"/>
                </a:solidFill>
                <a:latin typeface="Segoe UI"/>
              </a:rPr>
              <a:t>• Declarative Graph: </a:t>
            </a:r>
            <a:r>
              <a:rPr sz="1200">
                <a:solidFill>
                  <a:srgbClr val="334155"/>
                </a:solidFill>
                <a:latin typeface="Calibri"/>
              </a:rPr>
              <a:t>High-level layers.Conv2D and layers.MaxPooling2D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284C7"/>
                </a:solidFill>
                <a:latin typeface="Segoe UI"/>
              </a:rPr>
              <a:t>• Automated Graph: </a:t>
            </a:r>
            <a:r>
              <a:rPr sz="1200">
                <a:solidFill>
                  <a:srgbClr val="334155"/>
                </a:solidFill>
                <a:latin typeface="Calibri"/>
              </a:rPr>
              <a:t>Automated forward/backward graph compilation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284C7"/>
                </a:solidFill>
                <a:latin typeface="Segoe UI"/>
              </a:rPr>
              <a:t>• Rapid Prototyping: </a:t>
            </a:r>
            <a:r>
              <a:rPr sz="1200">
                <a:solidFill>
                  <a:srgbClr val="334155"/>
                </a:solidFill>
                <a:latin typeface="Calibri"/>
              </a:rPr>
              <a:t>Streamlined workflow for rapid model experimentation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9164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2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LEVEL 3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PyTorch (Imperative)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Dynamic Autograd: </a:t>
            </a:r>
            <a:r>
              <a:rPr sz="1200">
                <a:solidFill>
                  <a:srgbClr val="334155"/>
                </a:solidFill>
                <a:latin typeface="Calibri"/>
              </a:rPr>
              <a:t>Imperative forward execution with automatic C++ differentiation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Pythonic Debugging: </a:t>
            </a:r>
            <a:r>
              <a:rPr sz="1200">
                <a:solidFill>
                  <a:srgbClr val="334155"/>
                </a:solidFill>
                <a:latin typeface="Calibri"/>
              </a:rPr>
              <a:t>Direct tensor inspection and custom hook instrumentation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Production Standard: </a:t>
            </a:r>
            <a:r>
              <a:rPr sz="1200">
                <a:solidFill>
                  <a:srgbClr val="334155"/>
                </a:solidFill>
                <a:latin typeface="Calibri"/>
              </a:rPr>
              <a:t>The dominant framework in modern deep learning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Cross-Framework Component Rosetta 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Direct Structural Translation Across NumPy (Scratch), Keras (Declarative), and PyTorch (Imperative)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1645920"/>
          <a:ext cx="11167567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63240"/>
                <a:gridCol w="3200400"/>
                <a:gridCol w="3212287"/>
              </a:tblGrid>
              <a:tr h="6727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Primitive Concept</a:t>
                      </a:r>
                    </a:p>
                  </a:txBody>
                  <a:tcPr anchor="ctr" marL="73152" marR="73152" marT="109728" marB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NumPy (From Scratch)</a:t>
                      </a:r>
                    </a:p>
                  </a:txBody>
                  <a:tcPr anchor="ctr" marL="73152" marR="73152" marT="109728" marB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Keras (Declarative Graph)</a:t>
                      </a:r>
                    </a:p>
                  </a:txBody>
                  <a:tcPr anchor="ctr" marL="73152" marR="73152" marT="109728" marB="10972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PyTorch (Imperative Autograd)</a:t>
                      </a:r>
                    </a:p>
                  </a:txBody>
                  <a:tcPr anchor="ctr" marL="73152" marR="73152" marT="109728" marB="109728">
                    <a:solidFill>
                      <a:srgbClr val="0F172A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2D Convolution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Y_col = np.dot(W_row, X_col)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layers.Conv2D(32, (3, 3),</a:t>
                      </a:r>
                    </a:p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              padding='same')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nn.Conv2d(in_ch, out_ch,</a:t>
                      </a:r>
                    </a:p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          kernel_size=3)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Non-Linearity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a = np.maximum(0, z)  # ReLU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layers.Activation('relu') /</a:t>
                      </a:r>
                    </a:p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layers.ReLU()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torch.relu(z) /</a:t>
                      </a:r>
                    </a:p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nn.ReLU()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Spatial Pooling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max_pool2d_scratch(</a:t>
                      </a:r>
                    </a:p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    X, pool_size=2)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layers.MaxPooling2D(</a:t>
                      </a:r>
                    </a:p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    pool_size=(2, 2))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nn.MaxPool2d(kernel_size=2,</a:t>
                      </a:r>
                    </a:p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             stride=2)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Batch Normalization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gamma * (x - mu) /</a:t>
                      </a:r>
                    </a:p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np.sqrt(var + eps) + beta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layers.BatchNormalization()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nn.BatchNorm2d(</a:t>
                      </a:r>
                    </a:p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    num_features)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Backward Pass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dX_col = np.dot(</a:t>
                      </a:r>
                    </a:p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    W_row.T, dY_col)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tape.gradient(</a:t>
                      </a:r>
                    </a:p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    loss, model.trainable_vars)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loss.backward()</a:t>
                      </a:r>
                    </a:p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# C++ Autograd DAG</a:t>
                      </a:r>
                    </a:p>
                  </a:txBody>
                  <a:tcPr anchor="ctr" marL="73152" marR="73152" marT="73152" marB="73152">
                    <a:solidFill>
                      <a:srgbClr val="F8FAFC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Weight Update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5309"/>
                          </a:solidFill>
                          <a:latin typeface="Consolas"/>
                        </a:defRPr>
                      </a:pPr>
                      <a:r>
                        <a:t>W -= learning_rate * dW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optimizer.apply_gradients(</a:t>
                      </a:r>
                    </a:p>
                    <a:p>
                      <a:pPr>
                        <a:defRPr sz="1200" b="1">
                          <a:solidFill>
                            <a:srgbClr val="0284C7"/>
                          </a:solidFill>
                          <a:latin typeface="Consolas"/>
                        </a:defRPr>
                      </a:pPr>
                      <a:r>
                        <a:t>    zip(grads, vars))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optimizer.step()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Vectorized Forward Pass: im2col + BLAS GEMM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Transforming Spatial Sliding Windows into High-Performance Matrix Multiplication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31089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783080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1783080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83080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746504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conv_forward_im2col.py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5815584" cy="40325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# High-Performance Vectorized Convolution via im2col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472B6"/>
                </a:solidFill>
                <a:latin typeface="Consolas"/>
              </a:defRPr>
            </a:pPr>
            <a:r>
              <a:t>def conv_forward_im2col(x, w, b, stride=1, pad=1):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N, C, H, W = x.shape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F, _, HH, WW = w.shape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H_out = (H - HH + 2 * pad) // stride + 1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W_out = (W - WW + 2 * pad) // stride + 1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1. Unfold sliding receptive patches into 2D column matrix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x_col = im2col_indices(x, HH, WW, padding=pad, stride=stride)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w_row = w.reshape(F, -1)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2. Compute convolution via single optimized BLAS GEMM dot product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out = np.dot(w_row, x_col) + b.reshape(-1, 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3. Reshape back into output tensor volume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out = out.reshape(F, H_out, W_out, N).transpose(3, 0, 1, 2)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return out, (x, w, b, stride, pad, x_col)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2co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2701366"/>
            <a:ext cx="4026103" cy="20130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87768" y="5724144"/>
            <a:ext cx="40626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im2col Mechanics: Receptive Patches Unfolded into Matrix Columns for BLAS GEMM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Analytical Convolution Backward Pass (col2im)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Accumulating Backpropagated Gradients Across Overlapping Receptive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31089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783080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1783080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83080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746504"/>
            <a:ext cx="5303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conv_backward_im2col.py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5815584" cy="40325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# Analytical Gradient Backpropagation via col2im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472B6"/>
                </a:solidFill>
                <a:latin typeface="Consolas"/>
              </a:defRPr>
            </a:pPr>
            <a:r>
              <a:t>def conv_backward_im2col(dout, cache):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x, w, b, stride, pad, x_col = cache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F, C, HH, WW = w.shape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1. Bias gradient: sum across batch and spatial positions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db = np.sum(dout, axis=(0, 2, 3))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2. Reshape upstream gradient for matrix multiplication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dout_reshaped = dout.transpose(1, 2, 3, 0).reshape(F, -1)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3. Weight gradient via BLAS matrix product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dw = np.dot(dout_reshaped, x_col.T).reshape(w.shape)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    # 4. Input gradient: matrix product followed by col2im folding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w_row = w.reshape(F, -1)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dx_col = np.dot(w_row.T, dout_reshaped)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dx = col2im_indices(dx_col, x.shape, HH, WW, padding=pad, stride=stride)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38BDF8"/>
                </a:solidFill>
                <a:latin typeface="Consolas"/>
              </a:defRPr>
            </a:pPr>
            <a:r>
              <a:t>    return dx, dw,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ackprop_convolution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2701366"/>
            <a:ext cx="4026103" cy="20130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87768" y="5724144"/>
            <a:ext cx="40626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Analytical col2im: Backpropagating and Summing Gradients Over Overlapping Patches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Production PyTorch Implementation (nn.Module)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Elegant Object-Oriented Deep Convolutional Network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858000" cy="4617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858000" cy="31089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783080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1783080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783080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746504"/>
            <a:ext cx="5943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onsolas"/>
              </a:defRPr>
            </a:pPr>
            <a:r>
              <a:t>modern_cnn_pytorch.py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6455664" cy="421538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import torch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class ModernCNN(nn.Module):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    def __init__(self, num_classes=10):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super(ModernCNN, self).__init__()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self.features = nn.Sequential(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          # Stage 1: Spatial feature extraction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nn.Conv2d(3, 32, kernel_size=3, padding=1),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nn.BatchNorm2d(32),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nn.ReLU(inplace=True),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nn.MaxPool2d(kernel_size=2, stride=2),   # [B, 32, 16, 16]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          # Stage 2: Deep feature abstraction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nn.Conv2d(32, 64, kernel_size=3, padding=1),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nn.BatchNorm2d(64),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nn.ReLU(inplace=True),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nn.MaxPool2d(kernel_size=2, stride=2)    # [B, 64, 8, 8]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self.classifier = nn.Sequential(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nn.Flatten(),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nn.Linear(64 * 8 * 8, 128),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nn.ReLU(inplace=True),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nn.Dropout(0.5),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nn.Linear(128, num_classes)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x = self.features(x)       # Extract spatial representation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F472B6"/>
                </a:solidFill>
                <a:latin typeface="Consolas"/>
              </a:defRPr>
            </a:pPr>
            <a:r>
              <a:t>        logits = self.classifier(x) # Compute multi-class class scores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  return logits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691640"/>
            <a:ext cx="364205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059669"/>
                </a:solidFill>
                <a:latin typeface="Segoe UI"/>
              </a:defRPr>
            </a:pPr>
            <a:r>
              <a:t>PyTorch Advantages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0284C7"/>
                </a:solidFill>
                <a:latin typeface="Segoe UI"/>
              </a:rPr>
              <a:t>• Dynamic Computation Graph: </a:t>
            </a:r>
            <a:r>
              <a:rPr sz="1250">
                <a:solidFill>
                  <a:srgbClr val="334155"/>
                </a:solidFill>
                <a:latin typeface="Calibri"/>
              </a:rPr>
              <a:t>Graphs are constructed on-the-fly during forward execution, enabling arbitrary control flow and simple debugging.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0284C7"/>
                </a:solidFill>
                <a:latin typeface="Segoe UI"/>
              </a:rPr>
              <a:t>• Production BatchNorm: </a:t>
            </a:r>
            <a:r>
              <a:rPr sz="1250">
                <a:solidFill>
                  <a:srgbClr val="334155"/>
                </a:solidFill>
                <a:latin typeface="Calibri"/>
              </a:rPr>
              <a:t>Tracks running mini-batch statistics during training and applies deterministic population statistics during evaluation.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0284C7"/>
                </a:solidFill>
                <a:latin typeface="Segoe UI"/>
              </a:rPr>
              <a:t>• Automatic Differentiation: </a:t>
            </a:r>
            <a:r>
              <a:rPr sz="1250">
                <a:solidFill>
                  <a:srgbClr val="334155"/>
                </a:solidFill>
                <a:latin typeface="Calibri"/>
              </a:rPr>
              <a:t>Engine automatically traces tensor dependencies, generating the exact backward DAG without manual derivative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Empirical Verification &amp; Inference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1072865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From Learned Convolutional Weight Filters to Real-Time Predictive Consensus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arned_filters_fmn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148" y="1801368"/>
            <a:ext cx="2908662" cy="1527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438144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32 Learned 3x3 Convolutional Filter Tensors (Autonomous Edge &amp; Pattern Extraction)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6217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inference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4087367"/>
            <a:ext cx="3054096" cy="1527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724143"/>
            <a:ext cx="59984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Live Inference Dashboard: Multi-Model Single-Sample Classification Consensus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91640"/>
            <a:ext cx="428213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4338CA"/>
                </a:solidFill>
                <a:latin typeface="Segoe UI"/>
              </a:defRPr>
            </a:pPr>
            <a:r>
              <a:t>Scientific Synthesis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Learned Filter Convergence: </a:t>
            </a:r>
            <a:r>
              <a:rPr sz="1350">
                <a:solidFill>
                  <a:srgbClr val="334155"/>
                </a:solidFill>
                <a:latin typeface="Calibri"/>
              </a:rPr>
              <a:t>Trained 3x3 kernels autonomously converge to oriented edge detectors, color contrasts, and texture passes without manual supervision.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Real-Time Prediction Consensus: </a:t>
            </a:r>
            <a:r>
              <a:rPr sz="1350">
                <a:solidFill>
                  <a:srgbClr val="334155"/>
                </a:solidFill>
                <a:latin typeface="Calibri"/>
              </a:rPr>
              <a:t>Live single-sample forward pass achieves &gt;96% classification confidence, with consensus across NumPy, Keras, and PyTorch.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 b="1">
                <a:solidFill>
                  <a:srgbClr val="0284C7"/>
                </a:solidFill>
                <a:latin typeface="Segoe UI"/>
              </a:rPr>
              <a:t>• Foundational Inductive Bias: </a:t>
            </a:r>
            <a:r>
              <a:rPr sz="1350">
                <a:solidFill>
                  <a:srgbClr val="334155"/>
                </a:solidFill>
                <a:latin typeface="Calibri"/>
              </a:rPr>
              <a:t>Convolutions enforce spatial locality and weight sharing, cementing CNNs as the foundational bedrock of modern visual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5897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Calibri"/>
              </a:defRPr>
            </a:pPr>
            <a: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