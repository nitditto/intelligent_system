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515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Segoe UI"/>
              </a:defRPr>
            </a:pPr>
            <a:r>
              <a:t>INTELLIGENT SYSTEMS · DEEP LEARNING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9875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Segoe UI"/>
              </a:defRPr>
            </a:pPr>
            <a:r>
              <a:t>Convolutional Neural Networks (CNN)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2316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Calibri"/>
              </a:defRPr>
            </a:pPr>
            <a:r>
              <a:t>Foundations, Architectural Evolution, and Implementation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017520"/>
            <a:ext cx="9997135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ypical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8754" y="3127248"/>
            <a:ext cx="3774186" cy="1161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07008" y="4398264"/>
            <a:ext cx="977767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A Typical End-to-End CNN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98348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Authors:  Bùi Nguyên Hoàng Việt (B23DCDT285)  |  Lưu Anh Dũng (B23DCDK036)  |  Nguyễn Văn Trường (B23DCCE095)</a:t>
            </a:r>
          </a:p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Class: E23CNPM02  ·  Lecturer: Assoc. Prof. Dinh Que Tran, Ph.D.  ·  Post &amp; Telecommunications Institute of Technology (PTIT)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An Overview of the Four Core Sections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2303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856232"/>
            <a:ext cx="2450592" cy="1865376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338CA"/>
                </a:solidFill>
                <a:latin typeface="Segoe UI"/>
              </a:defRPr>
            </a:pPr>
            <a:r>
              <a:t>SECTION 01</a:t>
            </a:r>
          </a:p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Overview &amp; Vision Scope</a:t>
            </a:r>
          </a:p>
          <a:p>
            <a:pPr>
              <a:spcAft>
                <a:spcPts val="600"/>
              </a:spcAft>
              <a:defRPr sz="1100" i="1">
                <a:solidFill>
                  <a:srgbClr val="64748B"/>
                </a:solidFill>
                <a:latin typeface="Calibri"/>
              </a:defRPr>
            </a:pPr>
            <a:r>
              <a:t>Spatial Geometry &amp; Foundations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Calibri"/>
              </a:defRPr>
            </a:pPr>
            <a:r>
              <a:t>Why 2D image structure gets lost when flattened into vectors.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93008" y="1856232"/>
            <a:ext cx="2304288" cy="18653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lattening_unro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2276856"/>
            <a:ext cx="2048256" cy="10241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27064" y="1691640"/>
            <a:ext cx="52303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856232"/>
            <a:ext cx="2450592" cy="1865376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SECTION 02</a:t>
            </a:r>
          </a:p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Concept &amp; Mechanics</a:t>
            </a:r>
          </a:p>
          <a:p>
            <a:pPr>
              <a:spcAft>
                <a:spcPts val="600"/>
              </a:spcAft>
              <a:defRPr sz="1100" i="1">
                <a:solidFill>
                  <a:srgbClr val="64748B"/>
                </a:solidFill>
                <a:latin typeface="Calibri"/>
              </a:defRPr>
            </a:pPr>
            <a:r>
              <a:t>Mathematical Foundations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Calibri"/>
              </a:defRPr>
            </a:pPr>
            <a:r>
              <a:t>Layer composition, convolution math, stride/padding, ReLU.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1856232"/>
            <a:ext cx="2304288" cy="18653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D_convolution_frame_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0393" y="1965960"/>
            <a:ext cx="1860605" cy="16459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31520" y="4069080"/>
            <a:ext cx="52303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33672"/>
            <a:ext cx="2450592" cy="1865376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7C3AED"/>
                </a:solidFill>
                <a:latin typeface="Segoe UI"/>
              </a:defRPr>
            </a:pPr>
            <a:r>
              <a:t>SECTION 03</a:t>
            </a:r>
          </a:p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Model Evolution</a:t>
            </a:r>
          </a:p>
          <a:p>
            <a:pPr>
              <a:spcAft>
                <a:spcPts val="600"/>
              </a:spcAft>
              <a:defRPr sz="1100" i="1">
                <a:solidFill>
                  <a:srgbClr val="64748B"/>
                </a:solidFill>
                <a:latin typeface="Calibri"/>
              </a:defRPr>
            </a:pPr>
            <a:r>
              <a:t>Historical Milestones &amp; Modern Frontiers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Calibri"/>
              </a:defRPr>
            </a:pPr>
            <a:r>
              <a:t>From Neocognitron and LeNet to ResNet, MobileNet, and ViT.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4233672"/>
            <a:ext cx="2304288" cy="18653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vgg_architectur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024" y="4589124"/>
            <a:ext cx="2048256" cy="1154471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227064" y="4069080"/>
            <a:ext cx="5230368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4233672"/>
            <a:ext cx="2450592" cy="1865376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SECTION 04</a:t>
            </a:r>
          </a:p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Code Demo &amp; Verification</a:t>
            </a:r>
          </a:p>
          <a:p>
            <a:pPr>
              <a:spcAft>
                <a:spcPts val="600"/>
              </a:spcAft>
              <a:defRPr sz="1100" i="1">
                <a:solidFill>
                  <a:srgbClr val="64748B"/>
                </a:solidFill>
                <a:latin typeface="Calibri"/>
              </a:defRPr>
            </a:pPr>
            <a:r>
              <a:t>Vectorized Implementation</a:t>
            </a:r>
          </a:p>
          <a:p>
            <a:pPr>
              <a:lnSpc>
                <a:spcPct val="115000"/>
              </a:lnSpc>
              <a:defRPr sz="1100">
                <a:solidFill>
                  <a:srgbClr val="334155"/>
                </a:solidFill>
                <a:latin typeface="Calibri"/>
              </a:defRPr>
            </a:pPr>
            <a:r>
              <a:t>im2col forward pass, col2im backprop, and a PyTorch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88552" y="4233672"/>
            <a:ext cx="2304288" cy="18653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earned_filters_fmn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6568" y="4628692"/>
            <a:ext cx="2048256" cy="10753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2 /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2D Structure vs. Vector Unrolling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Limitations of MLPs on Image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Why Flattening Breaks Images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Spatial Adjacency Destruction: </a:t>
            </a:r>
            <a:r>
              <a:rPr sz="1350">
                <a:solidFill>
                  <a:srgbClr val="334155"/>
                </a:solidFill>
                <a:latin typeface="Calibri"/>
              </a:rPr>
              <a:t>Flattening a 2D image into a 1D vector breaks pixel adjacency.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Loss of Translation Equivariance: </a:t>
            </a:r>
            <a:r>
              <a:rPr sz="1350">
                <a:solidFill>
                  <a:srgbClr val="334155"/>
                </a:solidFill>
                <a:latin typeface="Calibri"/>
              </a:rPr>
              <a:t>MLPs must relearn weights for every position if an object shifts.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Coordinate Independence: </a:t>
            </a:r>
            <a:r>
              <a:rPr sz="1350">
                <a:solidFill>
                  <a:srgbClr val="334155"/>
                </a:solidFill>
                <a:latin typeface="Calibri"/>
              </a:rPr>
              <a:t>Convolutions keep the 2D grid, applying the same kernel everywhere.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42255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attening_unro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271" y="2217420"/>
            <a:ext cx="5961888" cy="29809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51983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Flattening a 2D Matrix (H x W) into a 1D Array Destroys Vertical Adjacency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3 / 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Networks as Function 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Layer-wise Non-Linear Transformations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nn_hierarch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403729"/>
            <a:ext cx="5961888" cy="2608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Hierarchical Manifold Untangling: Low-Level Edges -&gt; Mid Motifs -&gt; Class Concepts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How Layers Compose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Composite Mapping: </a:t>
            </a:r>
            <a:r>
              <a:rPr sz="1350">
                <a:solidFill>
                  <a:srgbClr val="334155"/>
                </a:solidFill>
                <a:latin typeface="Calibri"/>
              </a:rPr>
              <a:t>A network is a composite function F(X;Θ) = f_L ∘ ... ∘ f_1(X).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Layer Transformation: </a:t>
            </a:r>
            <a:r>
              <a:rPr sz="1350">
                <a:solidFill>
                  <a:srgbClr val="334155"/>
                </a:solidFill>
                <a:latin typeface="Calibri"/>
              </a:rPr>
              <a:t>Each layer applies an affine map plus non-linearity: f_l(h) = σ(W_l h + b_l).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Separable Latent Space: </a:t>
            </a:r>
            <a:r>
              <a:rPr sz="1350">
                <a:solidFill>
                  <a:srgbClr val="334155"/>
                </a:solidFill>
                <a:latin typeface="Calibri"/>
              </a:rPr>
              <a:t>Layers gradually reshape pixels into a linearly separable 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4 / 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Why Non-Linearity Is Mandatory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Stacked Linear Layers Yield No Additional Capacity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The Linear Collapse Proof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The Linear Collapse Theorem: </a:t>
            </a:r>
            <a:r>
              <a:rPr sz="1350">
                <a:solidFill>
                  <a:srgbClr val="334155"/>
                </a:solidFill>
                <a:latin typeface="Calibri"/>
              </a:rPr>
              <a:t>With linear activations, F(X) collapses to one effective linear map.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Zero Depth Advantage: </a:t>
            </a:r>
            <a:r>
              <a:rPr sz="1350">
                <a:solidFill>
                  <a:srgbClr val="334155"/>
                </a:solidFill>
                <a:latin typeface="Calibri"/>
              </a:rPr>
              <a:t>A 100-layer linear network is mathematically just linear regression.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Manifold Folding via ReLU: </a:t>
            </a:r>
            <a:r>
              <a:rPr sz="1350">
                <a:solidFill>
                  <a:srgbClr val="334155"/>
                </a:solidFill>
                <a:latin typeface="Calibri"/>
              </a:rPr>
              <a:t>Non-linear activations fold space into piecewise-linear decision regions.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42255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lu_function_wi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691" y="1801368"/>
            <a:ext cx="3813048" cy="3813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51983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Non-Linear Activation Function f(x) = max(0, x) Partitions the Space into Piecewise Linear Regions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5 /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The MLP Parameter Explosion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Scalability Limits of Dense Layers on Image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lp_vs_cnn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18055"/>
            <a:ext cx="5961888" cy="31796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Parameter Comparison: Fully-Connected (154M Params) vs. Convolutional (28 Params)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E11D48"/>
                </a:solidFill>
                <a:latin typeface="Segoe UI"/>
              </a:defRPr>
            </a:pPr>
            <a:r>
              <a:t>Where Dense Layers Break Down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Combinatorial Weight Explosion: </a:t>
            </a:r>
            <a:r>
              <a:rPr sz="1350">
                <a:solidFill>
                  <a:srgbClr val="334155"/>
                </a:solidFill>
                <a:latin typeface="Calibri"/>
              </a:rPr>
              <a:t>A 224×224×3 image to 1,024 hidden units needs &gt;154M weights.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Overfitting Risk: </a:t>
            </a:r>
            <a:r>
              <a:rPr sz="1350">
                <a:solidFill>
                  <a:srgbClr val="334155"/>
                </a:solidFill>
                <a:latin typeface="Calibri"/>
              </a:rPr>
              <a:t>Huge parameter counts cause overfitting and exhaust GPU memory.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Convolutional Efficiency: </a:t>
            </a:r>
            <a:r>
              <a:rPr sz="1350">
                <a:solidFill>
                  <a:srgbClr val="334155"/>
                </a:solidFill>
                <a:latin typeface="Calibri"/>
              </a:rPr>
              <a:t>A 3×3×3 conv filter needs only 28 parameters, at any resolution.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6 /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Hubel &amp; Wiesel (1959)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Receptive Fields in the Visual Cortex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ubel_wiesel_recepti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148" y="1801368"/>
            <a:ext cx="2908662" cy="1527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3438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Receptive Field Biological Mechanism (Hubel &amp; Wiesel, 1959)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62179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ientation_tun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432" y="4087367"/>
            <a:ext cx="3054096" cy="1527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724143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Biological Orientation Tuning Curves in V1 Cortical Cells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4338CA"/>
                </a:solidFill>
                <a:latin typeface="Segoe UI"/>
              </a:defRPr>
            </a:pPr>
            <a:r>
              <a:t>Biological Origins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Localized Simple Cells: </a:t>
            </a:r>
            <a:r>
              <a:rPr sz="1350">
                <a:solidFill>
                  <a:srgbClr val="334155"/>
                </a:solidFill>
                <a:latin typeface="Calibri"/>
              </a:rPr>
              <a:t>V1 neurons fire for localized oriented edges, not full-field light.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Orientation Tuning: </a:t>
            </a:r>
            <a:r>
              <a:rPr sz="1350">
                <a:solidFill>
                  <a:srgbClr val="334155"/>
                </a:solidFill>
                <a:latin typeface="Calibri"/>
              </a:rPr>
              <a:t>Cortical cells respond maximally to specific edge angles (0°, 45°, 90°).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Hierarchical Processing: </a:t>
            </a:r>
            <a:r>
              <a:rPr sz="1350">
                <a:solidFill>
                  <a:srgbClr val="334155"/>
                </a:solidFill>
                <a:latin typeface="Calibri"/>
              </a:rPr>
              <a:t>Complex cells pool simple-cell outputs, inspiring CNN kernel hierarchies.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7 / 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2D Convolution Mechanics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Sliding a Kernel Across the Image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D_convolution_frame_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278" y="1801368"/>
            <a:ext cx="4310402" cy="3813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Sliding Window Cross-Correlation: Kernel Receptive Field Dot Product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Sliding Window Mechanics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Mathematical Formulation: </a:t>
            </a:r>
            <a:r>
              <a:rPr sz="1350">
                <a:solidFill>
                  <a:srgbClr val="334155"/>
                </a:solidFill>
                <a:latin typeface="Calibri"/>
              </a:rPr>
              <a:t>Cross-correlation: S(i,j) = ΣΣ I(i+m,j+n)K(m,n) + b.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Kernel Dot Product: </a:t>
            </a:r>
            <a:r>
              <a:rPr sz="1350">
                <a:solidFill>
                  <a:srgbClr val="334155"/>
                </a:solidFill>
                <a:latin typeface="Calibri"/>
              </a:rPr>
              <a:t>A K×K kernel slides across the input, computing a dot product per step.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Feature Extraction: </a:t>
            </a:r>
            <a:r>
              <a:rPr sz="1350">
                <a:solidFill>
                  <a:srgbClr val="334155"/>
                </a:solidFill>
                <a:latin typeface="Calibri"/>
              </a:rPr>
              <a:t>Filters act as feature detectors, activating on matching patterns.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8 / 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Two Core CNN Axioms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Inductive Biases That Cut 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Core Inductive Biases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Axiom 1: Local Connectivity: </a:t>
            </a:r>
            <a:r>
              <a:rPr sz="1350">
                <a:solidFill>
                  <a:srgbClr val="334155"/>
                </a:solidFill>
                <a:latin typeface="Calibri"/>
              </a:rPr>
              <a:t>Each neuron connects only to a local K×K patch, not the full image.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Axiom 2: Weight Sharing: </a:t>
            </a:r>
            <a:r>
              <a:rPr sz="1350">
                <a:solidFill>
                  <a:srgbClr val="334155"/>
                </a:solidFill>
                <a:latin typeface="Calibri"/>
              </a:rPr>
              <a:t>The same filter weights are reused everywhere, giving translation equivariance.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Statistical Efficiency: </a:t>
            </a:r>
            <a:r>
              <a:rPr sz="1350">
                <a:solidFill>
                  <a:srgbClr val="334155"/>
                </a:solidFill>
                <a:latin typeface="Calibri"/>
              </a:rPr>
              <a:t>The network learns a small set of shared feature detectors, not millions of weights.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42255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uivariance_vs_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271" y="2217420"/>
            <a:ext cx="5961888" cy="29809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51983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Translation Equivariance: Shifting Input Shifts Output Maps Identically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9 / 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Stride &amp; Padding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Controlling Output Size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v_same_padding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8782" y="1801368"/>
            <a:ext cx="1343394" cy="1527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3438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Same Padding: Zero-Boundary Padding Preserves Spatial Grid Dimensions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62179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_strides_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049" y="4087367"/>
            <a:ext cx="1558861" cy="1527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724143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Stride S = 2: Skips Intermediate Pixels for Spatial Subsampling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Hyperparameter Control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Output Dimension Equation: </a:t>
            </a:r>
            <a:r>
              <a:rPr sz="1350">
                <a:solidFill>
                  <a:srgbClr val="334155"/>
                </a:solidFill>
                <a:latin typeface="Calibri"/>
              </a:rPr>
              <a:t>Output size: H_out = ⌊(H_in − K + 2P) / S⌋ + 1.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Padding Modes: </a:t>
            </a:r>
            <a:r>
              <a:rPr sz="1350">
                <a:solidFill>
                  <a:srgbClr val="334155"/>
                </a:solidFill>
                <a:latin typeface="Calibri"/>
              </a:rPr>
              <a:t>Valid padding (P=0) shrinks output; same padding keeps size unchanged.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Stride Subsampling: </a:t>
            </a:r>
            <a:r>
              <a:rPr sz="1350">
                <a:solidFill>
                  <a:srgbClr val="334155"/>
                </a:solidFill>
                <a:latin typeface="Calibri"/>
              </a:rPr>
              <a:t>Stride &gt; 1 skips pixels, shrinking output and growing the receptive field.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10 / 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Receptive Field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Expanding Coverage by Stacking Small Filters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eptive_field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217420"/>
            <a:ext cx="5961888" cy="29809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Receptive Field Arithmetic: Stacking 3x3 Kernels Yields 5x5 and 7x7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7C3AED"/>
                </a:solidFill>
                <a:latin typeface="Segoe UI"/>
              </a:defRPr>
            </a:pPr>
            <a:r>
              <a:t>Receptive Field Dynamics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Recursive RF Formula: </a:t>
            </a:r>
            <a:r>
              <a:rPr sz="1350">
                <a:solidFill>
                  <a:srgbClr val="334155"/>
                </a:solidFill>
                <a:latin typeface="Calibri"/>
              </a:rPr>
              <a:t>Receptive field grows recursively: RF_l = RF_{l-1} + (K_l−1)·Π S_i.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The VGG Insight: </a:t>
            </a:r>
            <a:r>
              <a:rPr sz="1350">
                <a:solidFill>
                  <a:srgbClr val="334155"/>
                </a:solidFill>
                <a:latin typeface="Calibri"/>
              </a:rPr>
              <a:t>Two stacked 3×3 convs match a 5×5 receptive field with 28% fewer params.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Hierarchical Context: </a:t>
            </a:r>
            <a:r>
              <a:rPr sz="1350">
                <a:solidFill>
                  <a:srgbClr val="334155"/>
                </a:solidFill>
                <a:latin typeface="Calibri"/>
              </a:rPr>
              <a:t>Deep layers capture global context without needing huge kernels.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11 / 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3D Tensor Convolutions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Convolving Across Channels and 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s231n_convne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280364"/>
            <a:ext cx="5961888" cy="28550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Stanford CS231n Volumetric Convolution: C_in x H x W Convolved into C_out Feature Maps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Multichannel Tensor Flow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Tensor Volume Shape: </a:t>
            </a:r>
            <a:r>
              <a:rPr sz="1350">
                <a:solidFill>
                  <a:srgbClr val="334155"/>
                </a:solidFill>
                <a:latin typeface="Calibri"/>
              </a:rPr>
              <a:t>Input (C_in×H×W) is processed by C_out filters, each shaped C_in×K_h×K_w.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Channel-Wise Summation: </a:t>
            </a:r>
            <a:r>
              <a:rPr sz="1350">
                <a:solidFill>
                  <a:srgbClr val="334155"/>
                </a:solidFill>
                <a:latin typeface="Calibri"/>
              </a:rPr>
              <a:t>Each filter convolves all input channels, summing into one output map.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Channel Expansion: </a:t>
            </a:r>
            <a:r>
              <a:rPr sz="1350">
                <a:solidFill>
                  <a:srgbClr val="334155"/>
                </a:solidFill>
                <a:latin typeface="Calibri"/>
              </a:rPr>
              <a:t>Stacking C_out responses gives the output volume (C_out×H_out×W_out).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12 / 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Counting Convolution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A Formula Independent of Image Size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rameter_formula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217420"/>
            <a:ext cx="5961888" cy="29809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Analytical Parameter Breakdown: (Kernel Area x Input Channels + Bias) x Output Channels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59669"/>
                </a:solidFill>
                <a:latin typeface="Segoe UI"/>
              </a:defRPr>
            </a:pPr>
            <a:r>
              <a:t>The Parameter Formula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Universal Parameter Equation: </a:t>
            </a:r>
            <a:r>
              <a:rPr sz="1350">
                <a:solidFill>
                  <a:srgbClr val="334155"/>
                </a:solidFill>
                <a:latin typeface="Calibri"/>
              </a:rPr>
              <a:t>Params = (K_h·K_w·C_in + 1) · C_out, including one bias per filter.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Resolution Independence: </a:t>
            </a:r>
            <a:r>
              <a:rPr sz="1350">
                <a:solidFill>
                  <a:srgbClr val="334155"/>
                </a:solidFill>
                <a:latin typeface="Calibri"/>
              </a:rPr>
              <a:t>Parameter count depends only on kernel size and channels, not image size.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Concrete Example: </a:t>
            </a:r>
            <a:r>
              <a:rPr sz="1350">
                <a:solidFill>
                  <a:srgbClr val="334155"/>
                </a:solidFill>
                <a:latin typeface="Calibri"/>
              </a:rPr>
              <a:t>Example: K=3, C_in=64, C_out=128 gives 73,856 parameters.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13 / 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ReLU and Sparsity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How ReLU Preserves Gradient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ReLU Activation Dynamics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The ReLU Definition: </a:t>
            </a:r>
            <a:r>
              <a:rPr sz="1350">
                <a:solidFill>
                  <a:srgbClr val="334155"/>
                </a:solidFill>
                <a:latin typeface="Calibri"/>
              </a:rPr>
              <a:t>f(x) = max(0, x), with derivative 1 for x&gt;0 and 0 for x&lt;0.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Vanishing Gradient Cure: </a:t>
            </a:r>
            <a:r>
              <a:rPr sz="1350">
                <a:solidFill>
                  <a:srgbClr val="334155"/>
                </a:solidFill>
                <a:latin typeface="Calibri"/>
              </a:rPr>
              <a:t>Unlike Sigmoid/Tanh, ReLU keeps a constant gradient, enabling 100+ layer training.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Induced Sparsity: </a:t>
            </a:r>
            <a:r>
              <a:rPr sz="1350">
                <a:solidFill>
                  <a:srgbClr val="334155"/>
                </a:solidFill>
                <a:latin typeface="Calibri"/>
              </a:rPr>
              <a:t>Zeroing negative values creates sparse activations (~50% active neurons).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42255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s231n_act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808" y="1801368"/>
            <a:ext cx="3826813" cy="3813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51983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Visualizing Spatial Activation Maps After Non-Linear ReLU Filtering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14 /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Max Pooling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Downsampling and Translation Invariance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x_poo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982082"/>
            <a:ext cx="5961888" cy="34516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Max Pooling 2x2 with Stride 2: Extracts Peak Activation per Local Quadrant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Spatial Downsampling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Max Pooling Operation: </a:t>
            </a:r>
            <a:r>
              <a:rPr sz="1350">
                <a:solidFill>
                  <a:srgbClr val="334155"/>
                </a:solidFill>
                <a:latin typeface="Calibri"/>
              </a:rPr>
              <a:t>A 2×2 window with stride 2 keeps the max value, dropping 75% of pixels.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Translation Invariance: </a:t>
            </a:r>
            <a:r>
              <a:rPr sz="1350">
                <a:solidFill>
                  <a:srgbClr val="334155"/>
                </a:solidFill>
                <a:latin typeface="Calibri"/>
              </a:rPr>
              <a:t>Small shifts in the input rarely change the pooled max, aiding robustness.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Zero Learnable Parameters: </a:t>
            </a:r>
            <a:r>
              <a:rPr sz="1350">
                <a:solidFill>
                  <a:srgbClr val="334155"/>
                </a:solidFill>
                <a:latin typeface="Calibri"/>
              </a:rPr>
              <a:t>Pooling has zero learnable parameters, cutting memory and compute.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15 /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Hierarchical Feature Representation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From Edges to Semantic Concepts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nn_hierarch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282" y="1801368"/>
            <a:ext cx="3490395" cy="1527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3438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Visual Feature Abstraction Progression: Edges -&gt; Textures -&gt; Parts -&gt; Objects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62179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s231n_weights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0118" y="4087367"/>
            <a:ext cx="3860722" cy="1527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724143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Learned Convolutional Filter Weights Visualized as Spatial Patterns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4338CA"/>
                </a:solidFill>
                <a:latin typeface="Segoe UI"/>
              </a:defRPr>
            </a:pPr>
            <a:r>
              <a:t>Hierarchical Abstraction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Shallow Layers (V1): </a:t>
            </a:r>
            <a:r>
              <a:rPr sz="1350">
                <a:solidFill>
                  <a:srgbClr val="334155"/>
                </a:solidFill>
                <a:latin typeface="Calibri"/>
              </a:rPr>
              <a:t>Early filters learn oriented edges, color contrasts, and boundaries.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Intermediate Layers: </a:t>
            </a:r>
            <a:r>
              <a:rPr sz="1350">
                <a:solidFill>
                  <a:srgbClr val="334155"/>
                </a:solidFill>
                <a:latin typeface="Calibri"/>
              </a:rPr>
              <a:t>Mid layers combine edges into textures, corners, and contours.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Deep Layers: </a:t>
            </a:r>
            <a:r>
              <a:rPr sz="1350">
                <a:solidFill>
                  <a:srgbClr val="334155"/>
                </a:solidFill>
                <a:latin typeface="Calibri"/>
              </a:rPr>
              <a:t>Deep layers detect whole-object parts, like wheels, eyes, and faces.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16 /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Neocognitron (1980)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A Biologically Inspired Precursor to CNNs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ocognitron_Scholar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112" y="1801368"/>
            <a:ext cx="5466735" cy="3813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Neocognitron (Fukushima, 1980): Hierarchical Alternation of S-Layers and C-Layers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4338CA"/>
                </a:solidFill>
                <a:latin typeface="Segoe UI"/>
              </a:defRPr>
            </a:pPr>
            <a:r>
              <a:t>The Computational Ancestor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S-Cells &amp; C-Cells: </a:t>
            </a:r>
            <a:r>
              <a:rPr sz="1350">
                <a:solidFill>
                  <a:srgbClr val="334155"/>
                </a:solidFill>
                <a:latin typeface="Calibri"/>
              </a:rPr>
              <a:t>S-cells extract oriented features; C-cells pool them for shift tolerance.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Self-Organizing Architecture: </a:t>
            </a:r>
            <a:r>
              <a:rPr sz="1350">
                <a:solidFill>
                  <a:srgbClr val="334155"/>
                </a:solidFill>
                <a:latin typeface="Calibri"/>
              </a:rPr>
              <a:t>Introduced layered visual processing and the conv-pool pattern, pre-backprop.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Translation Invariance: </a:t>
            </a:r>
            <a:r>
              <a:rPr sz="1350">
                <a:solidFill>
                  <a:srgbClr val="334155"/>
                </a:solidFill>
                <a:latin typeface="Calibri"/>
              </a:rPr>
              <a:t>First neural model to recognize shifted or deformed patterns via receptive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17 /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LeNet-5 (1998)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Gradient-Based Digit Recognition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enet5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27723"/>
            <a:ext cx="5961888" cy="3360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LeNet-5 Architecture: 7 Layers of Alternating Convolutions and Subsampling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The First Modern CNN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End-to-End Gradient Optimization: </a:t>
            </a:r>
            <a:r>
              <a:rPr sz="1350">
                <a:solidFill>
                  <a:srgbClr val="334155"/>
                </a:solidFill>
                <a:latin typeface="Calibri"/>
              </a:rPr>
              <a:t>Trained feature extraction and classification jointly via backpropagation.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Shift and Distortion Robustness: </a:t>
            </a:r>
            <a:r>
              <a:rPr sz="1350">
                <a:solidFill>
                  <a:srgbClr val="334155"/>
                </a:solidFill>
                <a:latin typeface="Calibri"/>
              </a:rPr>
              <a:t>Replaced hand-crafted features with shared convolutional filters.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Commercial Validation: </a:t>
            </a:r>
            <a:r>
              <a:rPr sz="1350">
                <a:solidFill>
                  <a:srgbClr val="334155"/>
                </a:solidFill>
                <a:latin typeface="Calibri"/>
              </a:rPr>
              <a:t>Deployed by US banks, reading over 10% of checks in the late 1990s.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18 / 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AlexNet (2012)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The ImageNet Milestone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xnet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1919325"/>
            <a:ext cx="5961888" cy="35771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AlexNet Architecture: 8 Layers Split Across Dual-GPU Parallel Processing Pipelines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7C3AED"/>
                </a:solidFill>
                <a:latin typeface="Segoe UI"/>
              </a:defRPr>
            </a:pPr>
            <a:r>
              <a:t>The Deep Learning Turning Point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Historical Breakthrough: </a:t>
            </a:r>
            <a:r>
              <a:rPr sz="1350">
                <a:solidFill>
                  <a:srgbClr val="334155"/>
                </a:solidFill>
                <a:latin typeface="Calibri"/>
              </a:rPr>
              <a:t>Won ImageNet 2012 with 16.4% top-5 error vs. 26.2% for runner-up.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Modern Technical Suite: </a:t>
            </a:r>
            <a:r>
              <a:rPr sz="1350">
                <a:solidFill>
                  <a:srgbClr val="334155"/>
                </a:solidFill>
                <a:latin typeface="Calibri"/>
              </a:rPr>
              <a:t>Combined ReLU, Dropout (0.5), and data augmentation to curb overfitting.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GPU Parallel Acceleration: </a:t>
            </a:r>
            <a:r>
              <a:rPr sz="1350">
                <a:solidFill>
                  <a:srgbClr val="334155"/>
                </a:solidFill>
                <a:latin typeface="Calibri"/>
              </a:rPr>
              <a:t>Trained across two GTX 580 GPUs, enabling large-scale representation learning.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19 / 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VGGNet (2014)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Standardizing 3×3 Convolution Stacks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gg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27723"/>
            <a:ext cx="5961888" cy="3360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VGG-16 Architecture: 5 Homogeneous 3x3 Convolutional Blocks + Fully-Connected 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The 3x3 Convolution Standard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Filter Factorization: </a:t>
            </a:r>
            <a:r>
              <a:rPr sz="1350">
                <a:solidFill>
                  <a:srgbClr val="334155"/>
                </a:solidFill>
                <a:latin typeface="Calibri"/>
              </a:rPr>
              <a:t>Two stacked 3×3 convs match a 5×5 receptive field, saving 28% params.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Homogeneous Modular Design: </a:t>
            </a:r>
            <a:r>
              <a:rPr sz="1350">
                <a:solidFill>
                  <a:srgbClr val="334155"/>
                </a:solidFill>
                <a:latin typeface="Calibri"/>
              </a:rPr>
              <a:t>Used uniform blocks: Conv(3×3) → BatchNorm → ReLU → MaxPool(2×2).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Deep Backbone Standard: </a:t>
            </a:r>
            <a:r>
              <a:rPr sz="1350">
                <a:solidFill>
                  <a:srgbClr val="334155"/>
                </a:solidFill>
                <a:latin typeface="Calibri"/>
              </a:rPr>
              <a:t>VGG-16/19 became the standard backbone for transfer learning.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20 /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GoogLeNet / Inception (2014)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Multi-Scale Features, 1×1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ception_modu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27723"/>
            <a:ext cx="5961888" cy="3360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GoogLeNet Inception Module: Parallel Multi-Scale Convolutions + 1x1 Channel Bottlenecks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59669"/>
                </a:solidFill>
                <a:latin typeface="Segoe UI"/>
              </a:defRPr>
            </a:pPr>
            <a:r>
              <a:t>Multi-Scale Efficiency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Multi-Scale Inception Modules: </a:t>
            </a:r>
            <a:r>
              <a:rPr sz="1350">
                <a:solidFill>
                  <a:srgbClr val="334155"/>
                </a:solidFill>
                <a:latin typeface="Calibri"/>
              </a:rPr>
              <a:t>Processes inputs at 1×1, 3×3, and 5×5 scales in parallel, then concatenates.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1x1 Bottleneck Convolutions: </a:t>
            </a:r>
            <a:r>
              <a:rPr sz="1350">
                <a:solidFill>
                  <a:srgbClr val="334155"/>
                </a:solidFill>
                <a:latin typeface="Calibri"/>
              </a:rPr>
              <a:t>1×1 convolutions reduce channels before costly 3×3/5×5 filters.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Global Average Pooling: </a:t>
            </a:r>
            <a:r>
              <a:rPr sz="1350">
                <a:solidFill>
                  <a:srgbClr val="334155"/>
                </a:solidFill>
                <a:latin typeface="Calibri"/>
              </a:rPr>
              <a:t>Global Average Pooling cut parameters from 138M (VGG) to 5M.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21 / 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ResNet (2015)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Residual Learning With Skip Connections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snet_skip_conn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18055"/>
            <a:ext cx="5961888" cy="31796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ResNet Residual Block: Identity Connection H(x) = F(x) + x Providing Direct Gradient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7C3AED"/>
                </a:solidFill>
                <a:latin typeface="Segoe UI"/>
              </a:defRPr>
            </a:pPr>
            <a:r>
              <a:t>Deep Residual Learning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The Degradation Problem: </a:t>
            </a:r>
            <a:r>
              <a:rPr sz="1350">
                <a:solidFill>
                  <a:srgbClr val="334155"/>
                </a:solidFill>
                <a:latin typeface="Calibri"/>
              </a:rPr>
              <a:t>Past ~20 layers, plain networks lose accuracy from vanishing gradients.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Identity Skip Highway: </a:t>
            </a:r>
            <a:r>
              <a:rPr sz="1350">
                <a:solidFill>
                  <a:srgbClr val="334155"/>
                </a:solidFill>
                <a:latin typeface="Calibri"/>
              </a:rPr>
              <a:t>Residual form H(x) = F(x) + x lets gradients flow directly to early layers.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Superhuman Accuracy: </a:t>
            </a:r>
            <a:r>
              <a:rPr sz="1350">
                <a:solidFill>
                  <a:srgbClr val="334155"/>
                </a:solidFill>
                <a:latin typeface="Calibri"/>
              </a:rPr>
              <a:t>Scaled to 152 layers, winning ImageNet 2015 with 3.57% top-5 error.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22 / 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DenseNet (2017)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Dense Connectivity via Concatenation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nsenet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27723"/>
            <a:ext cx="5961888" cy="3360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DenseNet Architecture: Dense Block Connectivity with k Growth Rate &amp; Transition Layers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Dense Feature Concatenation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Full Feed-Forward Connectivity: </a:t>
            </a:r>
            <a:r>
              <a:rPr sz="1350">
                <a:solidFill>
                  <a:srgbClr val="334155"/>
                </a:solidFill>
                <a:latin typeface="Calibri"/>
              </a:rPr>
              <a:t>Each layer connects to all later layers via feature-map concatenation.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Compact Growth Rate (k): </a:t>
            </a:r>
            <a:r>
              <a:rPr sz="1350">
                <a:solidFill>
                  <a:srgbClr val="334155"/>
                </a:solidFill>
                <a:latin typeface="Calibri"/>
              </a:rPr>
              <a:t>Each layer adds only k new channels (k=12–32), keeping params low.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Direct Gradient Flow: </a:t>
            </a:r>
            <a:r>
              <a:rPr sz="1350">
                <a:solidFill>
                  <a:srgbClr val="334155"/>
                </a:solidFill>
                <a:latin typeface="Calibri"/>
              </a:rPr>
              <a:t>Early layers get gradients directly from the loss, avoiding vanishing gradients.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23 /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U-Net (2015)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Encoder-Decoder for Segmentation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et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27723"/>
            <a:ext cx="5961888" cy="3360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U-Net Architecture: Contracting Encoder + Expanding Decoder + Horizontal Skip Connections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59669"/>
                </a:solidFill>
                <a:latin typeface="Segoe UI"/>
              </a:defRPr>
            </a:pPr>
            <a:r>
              <a:t>Dense Semantic Segmentation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Dense Prediction Paradigm: </a:t>
            </a:r>
            <a:r>
              <a:rPr sz="1350">
                <a:solidFill>
                  <a:srgbClr val="334155"/>
                </a:solidFill>
                <a:latin typeface="Calibri"/>
              </a:rPr>
              <a:t>Shifts from image classification to pixel-level segmentation masks.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Contracting &amp; Expanding Paths: </a:t>
            </a:r>
            <a:r>
              <a:rPr sz="1350">
                <a:solidFill>
                  <a:srgbClr val="334155"/>
                </a:solidFill>
                <a:latin typeface="Calibri"/>
              </a:rPr>
              <a:t>Encoder contracts for context; decoder upsamples to restore resolution.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Direct Skip Copy Channels: </a:t>
            </a:r>
            <a:r>
              <a:rPr sz="1350">
                <a:solidFill>
                  <a:srgbClr val="334155"/>
                </a:solidFill>
                <a:latin typeface="Calibri"/>
              </a:rPr>
              <a:t>Skip connections copy encoder features to the decoder, preserving edges.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24 /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MobileNet (2017)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Depthwise Separable Convolutions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bilenet_depthwi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27723"/>
            <a:ext cx="5961888" cy="3360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MobileNet Factorization: Depthwise (Spatial) + Pointwise (Channel) = 88% FLOPs Reduction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EA580C"/>
                </a:solidFill>
                <a:latin typeface="Segoe UI"/>
              </a:defRPr>
            </a:pPr>
            <a:r>
              <a:t>Edge &amp; Mobile Efficiency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Depthwise Factorization: </a:t>
            </a:r>
            <a:r>
              <a:rPr sz="1350">
                <a:solidFill>
                  <a:srgbClr val="334155"/>
                </a:solidFill>
                <a:latin typeface="Calibri"/>
              </a:rPr>
              <a:t>Splits convolution into depthwise (spatial) and pointwise (1×1) steps.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Massive Computational Savings: </a:t>
            </a:r>
            <a:r>
              <a:rPr sz="1350">
                <a:solidFill>
                  <a:srgbClr val="334155"/>
                </a:solidFill>
                <a:latin typeface="Calibri"/>
              </a:rPr>
              <a:t>Cuts FLOPs roughly 8–9x versus standard convolutions, ~1% accuracy loss.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Real-Time Mobile Vision: </a:t>
            </a:r>
            <a:r>
              <a:rPr sz="1350">
                <a:solidFill>
                  <a:srgbClr val="334155"/>
                </a:solidFill>
                <a:latin typeface="Calibri"/>
              </a:rPr>
              <a:t>Enabled real-time vision on phones, embedded robotics, and edge devices.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25 /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EfficientNet (2019)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Compound Scaling of Depth, Width,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fficientnet_scaling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27723"/>
            <a:ext cx="5961888" cy="3360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EfficientNet Compound Scaling: Balanced Growth of Depth, Width, and Resolution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59669"/>
                </a:solidFill>
                <a:latin typeface="Segoe UI"/>
              </a:defRPr>
            </a:pPr>
            <a:r>
              <a:t>Principled Model Scaling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Compound Scaling Principle: </a:t>
            </a:r>
            <a:r>
              <a:rPr sz="1350">
                <a:solidFill>
                  <a:srgbClr val="334155"/>
                </a:solidFill>
                <a:latin typeface="Calibri"/>
              </a:rPr>
              <a:t>Balances depth, width, and resolution via α·β²·γ² ≈ 2.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Balanced Scaling Wins: </a:t>
            </a:r>
            <a:r>
              <a:rPr sz="1350">
                <a:solidFill>
                  <a:srgbClr val="334155"/>
                </a:solidFill>
                <a:latin typeface="Calibri"/>
              </a:rPr>
              <a:t>Scaling only one dimension saturates; balanced scaling wins on accuracy.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State-of-the-Art Efficiency: </a:t>
            </a:r>
            <a:r>
              <a:rPr sz="1350">
                <a:solidFill>
                  <a:srgbClr val="334155"/>
                </a:solidFill>
                <a:latin typeface="Calibri"/>
              </a:rPr>
              <a:t>EfficientNet-B7 hit 84.3% top-1 accuracy, 8.4x smaller and 6.1x faster.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26 / 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SENet (2018)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Dynamic Channel Attention (Y = X ⊙ 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net_se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27723"/>
            <a:ext cx="5961888" cy="3360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SENet Squeeze-and-Excitation Block: Global Squeeze + MLP Excitation + Channel Recalibration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Channel-Wise Attention Gating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Squeeze Operation: </a:t>
            </a:r>
            <a:r>
              <a:rPr sz="1350">
                <a:solidFill>
                  <a:srgbClr val="334155"/>
                </a:solidFill>
                <a:latin typeface="Calibri"/>
              </a:rPr>
              <a:t>Global Average Pooling compresses each channel into one descriptor.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Excitation Gating: </a:t>
            </a:r>
            <a:r>
              <a:rPr sz="1350">
                <a:solidFill>
                  <a:srgbClr val="334155"/>
                </a:solidFill>
                <a:latin typeface="Calibri"/>
              </a:rPr>
              <a:t>A small MLP (FC→ReLU→FC→Sigmoid) learns channel importance, r=16.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Dynamic Recalibration: </a:t>
            </a:r>
            <a:r>
              <a:rPr sz="1350">
                <a:solidFill>
                  <a:srgbClr val="334155"/>
                </a:solidFill>
                <a:latin typeface="Calibri"/>
              </a:rPr>
              <a:t>Reweights each channel by a learned score, boosting useful features.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27 / 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CBAM (2018)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Sequential Channel and Spatial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bam_attention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27723"/>
            <a:ext cx="5961888" cy="3360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CBAM Sequential Attention: Channel Module (What) -&gt; Spatial Module (Where) -&gt; Refined Tensor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7C3AED"/>
                </a:solidFill>
                <a:latin typeface="Segoe UI"/>
              </a:defRPr>
            </a:pPr>
            <a:r>
              <a:t>Dual Sequential Attention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Sequential Dual Attention: </a:t>
            </a:r>
            <a:r>
              <a:rPr sz="1350">
                <a:solidFill>
                  <a:srgbClr val="334155"/>
                </a:solidFill>
                <a:latin typeface="Calibri"/>
              </a:rPr>
              <a:t>Channel attention (what matters) followed by spatial attention (where).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Dual Pooling Aggregation: </a:t>
            </a:r>
            <a:r>
              <a:rPr sz="1350">
                <a:solidFill>
                  <a:srgbClr val="334155"/>
                </a:solidFill>
                <a:latin typeface="Calibri"/>
              </a:rPr>
              <a:t>Combines average-pooling and max-pooling to generate attention maps.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Plug-and-Play Integration: </a:t>
            </a:r>
            <a:r>
              <a:rPr sz="1350">
                <a:solidFill>
                  <a:srgbClr val="334155"/>
                </a:solidFill>
                <a:latin typeface="Calibri"/>
              </a:rPr>
              <a:t>A lightweight module that drops into ResNet or MobileNet with minimal overhead.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28 / 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Vision Transformer (2020)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Representing Images as Patch Sequences Without Convolutions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t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27723"/>
            <a:ext cx="5961888" cy="3360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Vision Transformer (ViT): Patch Embedding -&gt; Transformer Encoder -&gt; Multi-Head Self-Attention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7C3AED"/>
                </a:solidFill>
                <a:latin typeface="Segoe UI"/>
              </a:defRPr>
            </a:pPr>
            <a:r>
              <a:t>Patches as Tokens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Patch Tokenization: </a:t>
            </a:r>
            <a:r>
              <a:rPr sz="1350">
                <a:solidFill>
                  <a:srgbClr val="334155"/>
                </a:solidFill>
                <a:latin typeface="Calibri"/>
              </a:rPr>
              <a:t>Splits a 224×224×3 image into 196 patches, each embedded as a token.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Pure Self-Attention: </a:t>
            </a:r>
            <a:r>
              <a:rPr sz="1350">
                <a:solidFill>
                  <a:srgbClr val="334155"/>
                </a:solidFill>
                <a:latin typeface="Calibri"/>
              </a:rPr>
              <a:t>Tokens interact via self-attention: softmax(QK^T/√d_k)V, capturing global context.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Massive Scale Dominance: </a:t>
            </a:r>
            <a:r>
              <a:rPr sz="1350">
                <a:solidFill>
                  <a:srgbClr val="334155"/>
                </a:solidFill>
                <a:latin typeface="Calibri"/>
              </a:rPr>
              <a:t>Drops spatial priors, outperforming CNNs when pretrained on huge datasets.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29 / 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CNN vs. Vision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A Comparison of Inductive Priors, Cost, and Trends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nn_vs_transform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27723"/>
            <a:ext cx="5961888" cy="3360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Inductive Bias &amp; Tradeoff Matrix: Local Convolutions vs. Global Self-Attention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4338CA"/>
                </a:solidFill>
                <a:latin typeface="Segoe UI"/>
              </a:defRPr>
            </a:pPr>
            <a:r>
              <a:t>The Tradeoff Summary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Inductive Bias Dichotomy: </a:t>
            </a:r>
            <a:r>
              <a:rPr sz="1350">
                <a:solidFill>
                  <a:srgbClr val="334155"/>
                </a:solidFill>
                <a:latin typeface="Calibri"/>
              </a:rPr>
              <a:t>CNNs bake in spatial priors; ViTs learn relationships purely from data.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Computational Asymmetry: </a:t>
            </a:r>
            <a:r>
              <a:rPr sz="1350">
                <a:solidFill>
                  <a:srgbClr val="334155"/>
                </a:solidFill>
                <a:latin typeface="Calibri"/>
              </a:rPr>
              <a:t>Convolutions scale linearly O(K²HW); self-attention scales quadratically O(N²).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Modern Convergence: </a:t>
            </a:r>
            <a:r>
              <a:rPr sz="1350">
                <a:solidFill>
                  <a:srgbClr val="334155"/>
                </a:solidFill>
                <a:latin typeface="Calibri"/>
              </a:rPr>
              <a:t>ConvNeXt modernizes CNNs with ViT ideas; MaxViT blends convs and attention.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30 / 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The CNN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From Pixels to Class Logits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ypical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790678"/>
            <a:ext cx="5961888" cy="1834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End-to-End CNN Pipeline: Input -&gt; Feature Extractor Backbone -&gt; Classifier 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The Standard Pipeline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Feature Extraction Backbone: </a:t>
            </a:r>
            <a:r>
              <a:rPr sz="1350">
                <a:solidFill>
                  <a:srgbClr val="334155"/>
                </a:solidFill>
                <a:latin typeface="Calibri"/>
              </a:rPr>
              <a:t>Alternating conv, ReLU, and pooling blocks extract robust features.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Transition to Classification: </a:t>
            </a:r>
            <a:r>
              <a:rPr sz="1350">
                <a:solidFill>
                  <a:srgbClr val="334155"/>
                </a:solidFill>
                <a:latin typeface="Calibri"/>
              </a:rPr>
              <a:t>Pooling or flattening compresses feature maps into a 1D vector.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Decision Head: </a:t>
            </a:r>
            <a:r>
              <a:rPr sz="1350">
                <a:solidFill>
                  <a:srgbClr val="334155"/>
                </a:solidFill>
                <a:latin typeface="Calibri"/>
              </a:rPr>
              <a:t>Fully-connected layers plus Softmax produce class probabilities.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31 / 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Tensor Shape Across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Spatial Shrinkage, Channel Growth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nsor_shape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98045"/>
            <a:ext cx="5961888" cy="3219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Tensor Flow: Spatial Contraction [224 -&gt; 7] &amp; Channel Expansion [3 -&gt; 512]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7C3AED"/>
                </a:solidFill>
                <a:latin typeface="Segoe UI"/>
              </a:defRPr>
            </a:pPr>
            <a:r>
              <a:t>Tensor Flow Dynamics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Spatial Resolution Contraction: </a:t>
            </a:r>
            <a:r>
              <a:rPr sz="1350">
                <a:solidFill>
                  <a:srgbClr val="334155"/>
                </a:solidFill>
                <a:latin typeface="Calibri"/>
              </a:rPr>
              <a:t>Spatial size shrinks: 224 → 112 → 56 → 28 → 7 via pooling/stride.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Channel Capacity Growth: </a:t>
            </a:r>
            <a:r>
              <a:rPr sz="1350">
                <a:solidFill>
                  <a:srgbClr val="334155"/>
                </a:solidFill>
                <a:latin typeface="Calibri"/>
              </a:rPr>
              <a:t>Channels grow inversely: 3 → 64 → 128 → 256 → 512.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The Tradeoff: </a:t>
            </a:r>
            <a:r>
              <a:rPr sz="1350">
                <a:solidFill>
                  <a:srgbClr val="334155"/>
                </a:solidFill>
                <a:latin typeface="Calibri"/>
              </a:rPr>
              <a:t>Pixel-level redundancy is traded for abstract, invariant features.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32 / 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FLOPs vs.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Where Compute and Memory 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ps_params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369181"/>
            <a:ext cx="5961888" cy="26774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Workload Asymmetry: Convolutions Consume Compute; Dense Layers Consume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EA580C"/>
                </a:solidFill>
                <a:latin typeface="Segoe UI"/>
              </a:defRPr>
            </a:pPr>
            <a:r>
              <a:t>Compute vs. Memory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Compute Bottleneck (FLOPs): </a:t>
            </a:r>
            <a:r>
              <a:rPr sz="1350">
                <a:solidFill>
                  <a:srgbClr val="334155"/>
                </a:solidFill>
                <a:latin typeface="Calibri"/>
              </a:rPr>
              <a:t>Convolutions account for over 90% of total FLOPs.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Memory Bottleneck (Parameters): </a:t>
            </a:r>
            <a:r>
              <a:rPr sz="1350">
                <a:solidFill>
                  <a:srgbClr val="334155"/>
                </a:solidFill>
                <a:latin typeface="Calibri"/>
              </a:rPr>
              <a:t>Fully-connected layers account for over 90% of model weights.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The Fix: Global Pooling: </a:t>
            </a:r>
            <a:r>
              <a:rPr sz="1350">
                <a:solidFill>
                  <a:srgbClr val="334155"/>
                </a:solidFill>
                <a:latin typeface="Calibri"/>
              </a:rPr>
              <a:t>Global Average Pooling replaces dense layers, cutting millions of params.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33 /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Three Levels of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From Raw Math to High-Level Frameworks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832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D97706"/>
                </a:solidFill>
                <a:latin typeface="Segoe UI"/>
              </a:defRPr>
            </a:pPr>
            <a:r>
              <a:t>LEVEL 1</a:t>
            </a:r>
          </a:p>
          <a:p>
            <a:pPr>
              <a:spcAft>
                <a:spcPts val="1000"/>
              </a:spcAft>
              <a:defRPr sz="1700" b="1">
                <a:solidFill>
                  <a:srgbClr val="0F172A"/>
                </a:solidFill>
                <a:latin typeface="Segoe UI"/>
              </a:defRPr>
            </a:pPr>
            <a:r>
              <a:t>NumPy (From Scratch)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D97706"/>
                </a:solidFill>
                <a:latin typeface="Segoe UI"/>
              </a:rPr>
              <a:t>• Vectorized im2col: </a:t>
            </a:r>
            <a:r>
              <a:rPr sz="1300">
                <a:solidFill>
                  <a:srgbClr val="334155"/>
                </a:solidFill>
                <a:latin typeface="Calibri"/>
              </a:rPr>
              <a:t>Flattens sliding windows into a matrix for GEMM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D97706"/>
                </a:solidFill>
                <a:latin typeface="Segoe UI"/>
              </a:rPr>
              <a:t>• Manual Backprop: </a:t>
            </a:r>
            <a:r>
              <a:rPr sz="1300">
                <a:solidFill>
                  <a:srgbClr val="334155"/>
                </a:solidFill>
                <a:latin typeface="Calibri"/>
              </a:rPr>
              <a:t>col2im redistributes gradients by hand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D97706"/>
                </a:solidFill>
                <a:latin typeface="Segoe UI"/>
              </a:rPr>
              <a:t>• Educational Value: </a:t>
            </a:r>
            <a:r>
              <a:rPr sz="1300">
                <a:solidFill>
                  <a:srgbClr val="334155"/>
                </a:solidFill>
                <a:latin typeface="Calibri"/>
              </a:rPr>
              <a:t>Full visibility into tensor mechanics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1691640"/>
            <a:ext cx="33832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LEVEL 2</a:t>
            </a:r>
          </a:p>
          <a:p>
            <a:pPr>
              <a:spcAft>
                <a:spcPts val="1000"/>
              </a:spcAft>
              <a:defRPr sz="1700" b="1">
                <a:solidFill>
                  <a:srgbClr val="0F172A"/>
                </a:solidFill>
                <a:latin typeface="Segoe UI"/>
              </a:defRPr>
            </a:pPr>
            <a:r>
              <a:t>Keras (Declarative)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284C7"/>
                </a:solidFill>
                <a:latin typeface="Segoe UI"/>
              </a:rPr>
              <a:t>• Declarative Graph: </a:t>
            </a:r>
            <a:r>
              <a:rPr sz="1300">
                <a:solidFill>
                  <a:srgbClr val="334155"/>
                </a:solidFill>
                <a:latin typeface="Calibri"/>
              </a:rPr>
              <a:t>High-level layers: Conv2D, MaxPooling2D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284C7"/>
                </a:solidFill>
                <a:latin typeface="Segoe UI"/>
              </a:rPr>
              <a:t>• Automated Graph: </a:t>
            </a:r>
            <a:r>
              <a:rPr sz="1300">
                <a:solidFill>
                  <a:srgbClr val="334155"/>
                </a:solidFill>
                <a:latin typeface="Calibri"/>
              </a:rPr>
              <a:t>Forward/backward graph compiled automatically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284C7"/>
                </a:solidFill>
                <a:latin typeface="Segoe UI"/>
              </a:rPr>
              <a:t>• Rapid Prototyping: </a:t>
            </a:r>
            <a:r>
              <a:rPr sz="1300">
                <a:solidFill>
                  <a:srgbClr val="334155"/>
                </a:solidFill>
                <a:latin typeface="Calibri"/>
              </a:rPr>
              <a:t>Fast workflow for model experimentation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691640"/>
            <a:ext cx="33832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059669"/>
                </a:solidFill>
                <a:latin typeface="Segoe UI"/>
              </a:defRPr>
            </a:pPr>
            <a:r>
              <a:t>LEVEL 3</a:t>
            </a:r>
          </a:p>
          <a:p>
            <a:pPr>
              <a:spcAft>
                <a:spcPts val="1000"/>
              </a:spcAft>
              <a:defRPr sz="1700" b="1">
                <a:solidFill>
                  <a:srgbClr val="0F172A"/>
                </a:solidFill>
                <a:latin typeface="Segoe UI"/>
              </a:defRPr>
            </a:pPr>
            <a:r>
              <a:t>PyTorch (Imperative)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59669"/>
                </a:solidFill>
                <a:latin typeface="Segoe UI"/>
              </a:rPr>
              <a:t>• Dynamic Autograd: </a:t>
            </a:r>
            <a:r>
              <a:rPr sz="1300">
                <a:solidFill>
                  <a:srgbClr val="334155"/>
                </a:solidFill>
                <a:latin typeface="Calibri"/>
              </a:rPr>
              <a:t>Forward pass runs eagerly, with automatic differentiation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59669"/>
                </a:solidFill>
                <a:latin typeface="Segoe UI"/>
              </a:rPr>
              <a:t>• Pythonic Debugging: </a:t>
            </a:r>
            <a:r>
              <a:rPr sz="1300">
                <a:solidFill>
                  <a:srgbClr val="334155"/>
                </a:solidFill>
                <a:latin typeface="Calibri"/>
              </a:rPr>
              <a:t>Direct tensor inspection and custom hooks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59669"/>
                </a:solidFill>
                <a:latin typeface="Segoe UI"/>
              </a:rPr>
              <a:t>• Production Standard: </a:t>
            </a:r>
            <a:r>
              <a:rPr sz="1300">
                <a:solidFill>
                  <a:srgbClr val="334155"/>
                </a:solidFill>
                <a:latin typeface="Calibri"/>
              </a:rPr>
              <a:t>The dominant framework in deep learning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34 / 45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Cross-Framework Rosetta 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NumPy, Keras, and PyTorch Side by Side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2064" y="1645920"/>
          <a:ext cx="11167567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063240"/>
                <a:gridCol w="3200400"/>
                <a:gridCol w="3212287"/>
              </a:tblGrid>
              <a:tr h="672737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Primitive Concept</a:t>
                      </a:r>
                    </a:p>
                  </a:txBody>
                  <a:tcPr anchor="ctr" marL="73152" marR="73152" marT="109728" marB="109728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59E0B"/>
                          </a:solidFill>
                          <a:latin typeface="Segoe UI"/>
                        </a:defRPr>
                      </a:pPr>
                      <a:r>
                        <a:t>NumPy (From Scratch)</a:t>
                      </a:r>
                    </a:p>
                  </a:txBody>
                  <a:tcPr anchor="ctr" marL="73152" marR="73152" marT="109728" marB="109728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Keras (Declarative Graph)</a:t>
                      </a:r>
                    </a:p>
                  </a:txBody>
                  <a:tcPr anchor="ctr" marL="73152" marR="73152" marT="109728" marB="109728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PyTorch (Imperative Autograd)</a:t>
                      </a:r>
                    </a:p>
                  </a:txBody>
                  <a:tcPr anchor="ctr" marL="73152" marR="73152" marT="109728" marB="109728">
                    <a:solidFill>
                      <a:srgbClr val="0F172A"/>
                    </a:solidFill>
                  </a:tcPr>
                </a:tc>
              </a:tr>
              <a:tr h="672737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2D Convolution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Y_col = np.dot(W_row, X_col)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layers.Conv2D(32, (3, 3),</a:t>
                      </a:r>
                    </a:p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              padding='same')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nn.Conv2d(in_ch, out_ch,</a:t>
                      </a:r>
                    </a:p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          kernel_size=3)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</a:tr>
              <a:tr h="672737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Non-Linearity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a = np.maximum(0, z)  # ReLU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layers.Activation('relu') /</a:t>
                      </a:r>
                    </a:p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layers.ReLU()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torch.relu(z) /</a:t>
                      </a:r>
                    </a:p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nn.ReLU()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672737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Spatial Pooling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max_pool2d_scratch(</a:t>
                      </a:r>
                    </a:p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    X, pool_size=2)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layers.MaxPooling2D(</a:t>
                      </a:r>
                    </a:p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    pool_size=(2, 2))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nn.MaxPool2d(kernel_size=2,</a:t>
                      </a:r>
                    </a:p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             stride=2)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</a:tr>
              <a:tr h="672737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Batch Normalization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gamma * (x - mu) /</a:t>
                      </a:r>
                    </a:p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np.sqrt(var + eps) + beta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layers.BatchNormalization()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nn.BatchNorm2d(</a:t>
                      </a:r>
                    </a:p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    num_features)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672737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Backward Pass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dX_col = np.dot(</a:t>
                      </a:r>
                    </a:p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    W_row.T, dY_col)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tape.gradient(</a:t>
                      </a:r>
                    </a:p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    loss, model.trainable_vars)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loss.backward()</a:t>
                      </a:r>
                    </a:p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# C++ Autograd DAG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</a:tr>
              <a:tr h="672738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Weight Update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W -= learning_rate * dW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optimizer.apply_gradients(</a:t>
                      </a:r>
                    </a:p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    zip(grads, vars))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optimizer.step()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35 / 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Forward Pass: im2col + GEMM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Turning Convolution Into Matrix Multiplication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31089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" y="1783080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2416" y="1783080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07008" y="1783080"/>
            <a:ext cx="100584" cy="1005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1746504"/>
            <a:ext cx="5303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onsolas"/>
              </a:defRPr>
            </a:pPr>
            <a:r>
              <a:t>conv_forward_im2col.py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57400"/>
            <a:ext cx="5815584" cy="4032504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# High-Performance Vectorized Convolution via im2col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472B6"/>
                </a:solidFill>
                <a:latin typeface="Consolas"/>
              </a:defRPr>
            </a:pPr>
            <a:r>
              <a:t>def conv_forward_im2col(x, w, b, stride=1, pad=1):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N, C, H, W = x.shape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F, _, HH, WW = w.shape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H_out = (H - HH + 2 * pad) // stride + 1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W_out = (W - WW + 2 * pad) // stride + 1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    # 1. Unfold sliding receptive patches into 2D column matrix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x_col = im2col_indices(x, HH, WW, padding=pad, stride=stride)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w_row = w.reshape(F, -1)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    # 2. Compute convolution via single optimized BLAS GEMM dot product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out = np.dot(w_row, x_col) + b.reshape(-1, 1)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    # 3. Reshape back into output tensor volume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out = out.reshape(F, H_out, W_out, N).transpose(3, 0, 1, 2)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8BDF8"/>
                </a:solidFill>
                <a:latin typeface="Consolas"/>
              </a:defRPr>
            </a:pPr>
            <a:r>
              <a:t>    return out, (x, w, b, stride, pad, x_col)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2col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6056" y="2701366"/>
            <a:ext cx="4026103" cy="20130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87768" y="5724144"/>
            <a:ext cx="406267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im2col: Patches Unfolded Into Matrix 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36 / 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Backward Pass: col2im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Accumulating Gradients Over Overlapping Patches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217920" cy="31089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" y="1783080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2416" y="1783080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07008" y="1783080"/>
            <a:ext cx="100584" cy="1005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1746504"/>
            <a:ext cx="5303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onsolas"/>
              </a:defRPr>
            </a:pPr>
            <a:r>
              <a:t>conv_backward_im2col.py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57400"/>
            <a:ext cx="5815584" cy="4032504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# Analytical Gradient Backpropagation via col2im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472B6"/>
                </a:solidFill>
                <a:latin typeface="Consolas"/>
              </a:defRPr>
            </a:pPr>
            <a:r>
              <a:t>def conv_backward_im2col(dout, cache):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x, w, b, stride, pad, x_col = cache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F, C, HH, WW = w.shape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    # 1. Bias gradient: sum across batch and spatial positions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db = np.sum(dout, axis=(0, 2, 3))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    # 2. Reshape upstream gradient for matrix multiplication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dout_reshaped = dout.transpose(1, 2, 3, 0).reshape(F, -1)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    # 3. Weight gradient via BLAS matrix product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dw = np.dot(dout_reshaped, x_col.T).reshape(w.shape)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    # 4. Input gradient: matrix product followed by col2im folding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w_row = w.reshape(F, -1)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dx_col = np.dot(w_row.T, dout_reshaped)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dx = col2im_indices(dx_col, x.shape, HH, WW, padding=pad, stride=stride)</a:t>
            </a:r>
          </a:p>
          <a:p>
            <a:pPr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38BDF8"/>
                </a:solidFill>
                <a:latin typeface="Consolas"/>
              </a:defRPr>
            </a:pPr>
            <a:r>
              <a:t>    return dx, dw, 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ackprop_convolution_m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6056" y="2701366"/>
            <a:ext cx="4026103" cy="20130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87768" y="5724144"/>
            <a:ext cx="4062679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col2im: Summing Gradients Over Overlapping Patches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37 / 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PyTorch Implementation (nn.Module)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A Compact Object-Oriented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858000" cy="46177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858000" cy="31089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7824" y="1783080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2416" y="1783080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07008" y="1783080"/>
            <a:ext cx="100584" cy="1005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1746504"/>
            <a:ext cx="59436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Consolas"/>
              </a:defRPr>
            </a:pPr>
            <a:r>
              <a:t>modern_cnn_pytorch.py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57400"/>
            <a:ext cx="6455664" cy="4215384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F472B6"/>
                </a:solidFill>
                <a:latin typeface="Consolas"/>
              </a:defRPr>
            </a:pPr>
            <a:r>
              <a:t>import torch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F472B6"/>
                </a:solidFill>
                <a:latin typeface="Consolas"/>
              </a:defRPr>
            </a:pPr>
            <a:r>
              <a:t>import torch.nn as nn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F472B6"/>
                </a:solidFill>
                <a:latin typeface="Consolas"/>
              </a:defRPr>
            </a:pPr>
            <a:r>
              <a:t>class ModernCNN(nn.Module):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F472B6"/>
                </a:solidFill>
                <a:latin typeface="Consolas"/>
              </a:defRPr>
            </a:pPr>
            <a:r>
              <a:t>    def __init__(self, num_classes=10):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super(ModernCNN, self).__init__()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self.features = nn.Sequential(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64748B"/>
                </a:solidFill>
                <a:latin typeface="Consolas"/>
              </a:defRPr>
            </a:pPr>
            <a:r>
              <a:t>            # Stage 1: Spatial feature extraction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nn.Conv2d(3, 32, kernel_size=3, padding=1),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nn.BatchNorm2d(32),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nn.ReLU(inplace=True),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nn.MaxPool2d(kernel_size=2, stride=2),   # [B, 32, 16, 16]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64748B"/>
                </a:solidFill>
                <a:latin typeface="Consolas"/>
              </a:defRPr>
            </a:pPr>
            <a:r>
              <a:t>            # Stage 2: Deep feature abstraction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nn.Conv2d(32, 64, kernel_size=3, padding=1),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nn.BatchNorm2d(64),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nn.ReLU(inplace=True),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nn.MaxPool2d(kernel_size=2, stride=2)    # [B, 64, 8, 8]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)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self.classifier = nn.Sequential(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nn.Flatten(),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nn.Linear(64 * 8 * 8, 128),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nn.ReLU(inplace=True),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nn.Dropout(0.5),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nn.Linear(128, num_classes)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)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F472B6"/>
                </a:solidFill>
                <a:latin typeface="Consolas"/>
              </a:defRPr>
            </a:pPr>
            <a:r>
              <a:t>    def forward(self, x):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x = self.features(x)       # Extract spatial representation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F472B6"/>
                </a:solidFill>
                <a:latin typeface="Consolas"/>
              </a:defRPr>
            </a:pPr>
            <a:r>
              <a:t>        logits = self.classifier(x) # Compute multi-class class scores</a:t>
            </a:r>
          </a:p>
          <a:p>
            <a:pPr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38BDF8"/>
                </a:solidFill>
                <a:latin typeface="Consolas"/>
              </a:defRPr>
            </a:pPr>
            <a:r>
              <a:t>        return logits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1691640"/>
            <a:ext cx="3642055" cy="4617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59669"/>
                </a:solidFill>
                <a:latin typeface="Segoe UI"/>
              </a:defRPr>
            </a:pPr>
            <a:r>
              <a:t>PyTorch Advantages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50" b="1">
                <a:solidFill>
                  <a:srgbClr val="0284C7"/>
                </a:solidFill>
                <a:latin typeface="Segoe UI"/>
              </a:rPr>
              <a:t>• Dynamic Computation Graph: </a:t>
            </a:r>
            <a:r>
              <a:rPr sz="1250">
                <a:solidFill>
                  <a:srgbClr val="334155"/>
                </a:solidFill>
                <a:latin typeface="Calibri"/>
              </a:rPr>
              <a:t>Graphs build on-the-fly during forward execution, easing debugging.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50" b="1">
                <a:solidFill>
                  <a:srgbClr val="0284C7"/>
                </a:solidFill>
                <a:latin typeface="Segoe UI"/>
              </a:rPr>
              <a:t>• Production BatchNorm: </a:t>
            </a:r>
            <a:r>
              <a:rPr sz="1250">
                <a:solidFill>
                  <a:srgbClr val="334155"/>
                </a:solidFill>
                <a:latin typeface="Calibri"/>
              </a:rPr>
              <a:t>Tracks batch statistics in training, uses fixed stats at inference.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250" b="1">
                <a:solidFill>
                  <a:srgbClr val="0284C7"/>
                </a:solidFill>
                <a:latin typeface="Segoe UI"/>
              </a:rPr>
              <a:t>• Automatic Differentiation: </a:t>
            </a:r>
            <a:r>
              <a:rPr sz="1250">
                <a:solidFill>
                  <a:srgbClr val="334155"/>
                </a:solidFill>
                <a:latin typeface="Calibri"/>
              </a:rPr>
              <a:t>Autograd traces tensor operations to build the backward pass automatically.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38 /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Verification &amp; Inference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Learned Filters to Live Predictions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earned_filters_fmn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148" y="1801368"/>
            <a:ext cx="2908662" cy="1527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3438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32 Learned 3x3 Convolutional Filter Tensors (Autonomous Edge &amp; Pattern Extraction)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62179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ive_inference_vis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432" y="4087367"/>
            <a:ext cx="3054096" cy="1527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724143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Live Inference Dashboard: Multi-Model Single-Sample Classification Consensus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4338CA"/>
                </a:solidFill>
                <a:latin typeface="Segoe UI"/>
              </a:defRPr>
            </a:pPr>
            <a:r>
              <a:t>Putting It Together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Learned Filter Convergence: </a:t>
            </a:r>
            <a:r>
              <a:rPr sz="1350">
                <a:solidFill>
                  <a:srgbClr val="334155"/>
                </a:solidFill>
                <a:latin typeface="Calibri"/>
              </a:rPr>
              <a:t>Trained 3×3 kernels converge to edge and texture detectors unsupervised.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Real-Time Prediction Consensus: </a:t>
            </a:r>
            <a:r>
              <a:rPr sz="1350">
                <a:solidFill>
                  <a:srgbClr val="334155"/>
                </a:solidFill>
                <a:latin typeface="Calibri"/>
              </a:rPr>
              <a:t>A live forward pass reaches &gt;96% confidence, matching across all 3 frameworks.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Foundational Inductive Bias: </a:t>
            </a:r>
            <a:r>
              <a:rPr sz="1350">
                <a:solidFill>
                  <a:srgbClr val="334155"/>
                </a:solidFill>
                <a:latin typeface="Calibri"/>
              </a:rPr>
              <a:t>Locality and weight sharing remain the foundation of modern vision models.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39 / 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From Theory to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Three Applications: Tabular MLP, Grayscale CNN, RGB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832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D97706"/>
                </a:solidFill>
                <a:latin typeface="Segoe UI"/>
              </a:defRPr>
            </a:pPr>
            <a:r>
              <a:t>APP 01</a:t>
            </a:r>
          </a:p>
          <a:p>
            <a:pPr>
              <a:spcAft>
                <a:spcPts val="1000"/>
              </a:spcAft>
              <a:defRPr sz="1700" b="1">
                <a:solidFill>
                  <a:srgbClr val="0F172A"/>
                </a:solidFill>
                <a:latin typeface="Segoe UI"/>
              </a:defRPr>
            </a:pPr>
            <a:r>
              <a:t>Diabetes (MLP)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D97706"/>
                </a:solidFill>
                <a:latin typeface="Segoe UI"/>
              </a:rPr>
              <a:t>• Task: </a:t>
            </a:r>
            <a:r>
              <a:rPr sz="1100">
                <a:solidFill>
                  <a:srgbClr val="334155"/>
                </a:solidFill>
                <a:latin typeface="Calibri"/>
              </a:rPr>
              <a:t>Tabular binary classification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D97706"/>
                </a:solidFill>
                <a:latin typeface="Segoe UI"/>
              </a:rPr>
              <a:t>• Input: </a:t>
            </a:r>
            <a:r>
              <a:rPr sz="1100">
                <a:solidFill>
                  <a:srgbClr val="334155"/>
                </a:solidFill>
                <a:latin typeface="Calibri"/>
              </a:rPr>
              <a:t>50 normalized features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D97706"/>
                </a:solidFill>
                <a:latin typeface="Segoe UI"/>
              </a:rPr>
              <a:t>• Model: </a:t>
            </a:r>
            <a:r>
              <a:rPr sz="1100">
                <a:solidFill>
                  <a:srgbClr val="334155"/>
                </a:solidFill>
                <a:latin typeface="Calibri"/>
              </a:rPr>
              <a:t>MLP, 2,177 parameters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3794760"/>
            <a:ext cx="3054096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abetes_tabular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4104241"/>
            <a:ext cx="2798064" cy="15298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398264" y="1691640"/>
            <a:ext cx="33832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APP 02</a:t>
            </a:r>
          </a:p>
          <a:p>
            <a:pPr>
              <a:spcAft>
                <a:spcPts val="1000"/>
              </a:spcAft>
              <a:defRPr sz="1700" b="1">
                <a:solidFill>
                  <a:srgbClr val="0F172A"/>
                </a:solidFill>
                <a:latin typeface="Segoe UI"/>
              </a:defRPr>
            </a:pPr>
            <a:r>
              <a:t>Fashion-MNIST (CNN)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284C7"/>
                </a:solidFill>
                <a:latin typeface="Segoe UI"/>
              </a:rPr>
              <a:t>• Task: </a:t>
            </a:r>
            <a:r>
              <a:rPr sz="1100">
                <a:solidFill>
                  <a:srgbClr val="334155"/>
                </a:solidFill>
                <a:latin typeface="Calibri"/>
              </a:rPr>
              <a:t>Grayscale image classification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284C7"/>
                </a:solidFill>
                <a:latin typeface="Segoe UI"/>
              </a:rPr>
              <a:t>• Input: </a:t>
            </a:r>
            <a:r>
              <a:rPr sz="1100">
                <a:solidFill>
                  <a:srgbClr val="334155"/>
                </a:solidFill>
                <a:latin typeface="Calibri"/>
              </a:rPr>
              <a:t>1×28×28, 10 classes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284C7"/>
                </a:solidFill>
                <a:latin typeface="Segoe UI"/>
              </a:rPr>
              <a:t>• Model: </a:t>
            </a:r>
            <a:r>
              <a:rPr sz="1100">
                <a:solidFill>
                  <a:srgbClr val="334155"/>
                </a:solidFill>
                <a:latin typeface="Calibri"/>
              </a:rPr>
              <a:t>2-block CNN, 421,642 parameters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62856" y="3794760"/>
            <a:ext cx="3054096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mnist_out_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4097892"/>
            <a:ext cx="2798064" cy="15425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65008" y="1691640"/>
            <a:ext cx="33832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059669"/>
                </a:solidFill>
                <a:latin typeface="Segoe UI"/>
              </a:defRPr>
            </a:pPr>
            <a:r>
              <a:t>APP 03</a:t>
            </a:r>
          </a:p>
          <a:p>
            <a:pPr>
              <a:spcAft>
                <a:spcPts val="1000"/>
              </a:spcAft>
              <a:defRPr sz="1700" b="1">
                <a:solidFill>
                  <a:srgbClr val="0F172A"/>
                </a:solidFill>
                <a:latin typeface="Segoe UI"/>
              </a:defRPr>
            </a:pPr>
            <a:r>
              <a:t>CIFAR-10 (CNN)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59669"/>
                </a:solidFill>
                <a:latin typeface="Segoe UI"/>
              </a:rPr>
              <a:t>• Task: </a:t>
            </a:r>
            <a:r>
              <a:rPr sz="1100">
                <a:solidFill>
                  <a:srgbClr val="334155"/>
                </a:solidFill>
                <a:latin typeface="Calibri"/>
              </a:rPr>
              <a:t>RGB image classification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59669"/>
                </a:solidFill>
                <a:latin typeface="Segoe UI"/>
              </a:rPr>
              <a:t>• Input: </a:t>
            </a:r>
            <a:r>
              <a:rPr sz="1100">
                <a:solidFill>
                  <a:srgbClr val="334155"/>
                </a:solidFill>
                <a:latin typeface="Calibri"/>
              </a:rPr>
              <a:t>3×32×32, 10 classes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059669"/>
                </a:solidFill>
                <a:latin typeface="Segoe UI"/>
              </a:rPr>
              <a:t>• Model: </a:t>
            </a:r>
            <a:r>
              <a:rPr sz="1100">
                <a:solidFill>
                  <a:srgbClr val="334155"/>
                </a:solidFill>
                <a:latin typeface="Calibri"/>
              </a:rPr>
              <a:t>2-block CNN, 545,098 parameters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794760"/>
            <a:ext cx="3054096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ifar10_out_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4097892"/>
            <a:ext cx="2798064" cy="15425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40 / 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Fashion-MNIST: Grayscale CNN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Tracing Tensor Shapes Through a Single-Channel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mnist_out_5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815613"/>
            <a:ext cx="5961888" cy="17845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Fashion-MNIST Training Curves: Loss and Accuracy Across Epochs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421,642 Parameters, All Frameworks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Input Tensor: </a:t>
            </a:r>
            <a:r>
              <a:rPr sz="1350">
                <a:solidFill>
                  <a:srgbClr val="334155"/>
                </a:solidFill>
                <a:latin typeface="Calibri"/>
              </a:rPr>
              <a:t>(B, 1, 28, 28): single grayscale channel, 28×28 pixels.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Conv + Pool Blocks: </a:t>
            </a:r>
            <a:r>
              <a:rPr sz="1350">
                <a:solidFill>
                  <a:srgbClr val="334155"/>
                </a:solidFill>
                <a:latin typeface="Calibri"/>
              </a:rPr>
              <a:t>Conv(1→32) → Pool → (B,32,14,14); Conv(32→64) → Pool → (B,64,7,7).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Classifier Head: </a:t>
            </a:r>
            <a:r>
              <a:rPr sz="1350">
                <a:solidFill>
                  <a:srgbClr val="334155"/>
                </a:solidFill>
                <a:latin typeface="Calibri"/>
              </a:rPr>
              <a:t>Flatten to 3,136 → Linear(3136→128) → Linear(128→10).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41 / 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CIFAR-10: RGB CNN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Tracing Tensor Shapes Through a 3-Channel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ifar10_out_49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815613"/>
            <a:ext cx="5961888" cy="17845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5724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CIFAR-10 Training Curves: Loss and Accuracy Across Epochs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059669"/>
                </a:solidFill>
                <a:latin typeface="Segoe UI"/>
              </a:defRPr>
            </a:pPr>
            <a:r>
              <a:t>545,098 Parameters, All Frameworks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Input Tensor: </a:t>
            </a:r>
            <a:r>
              <a:rPr sz="1350">
                <a:solidFill>
                  <a:srgbClr val="334155"/>
                </a:solidFill>
                <a:latin typeface="Calibri"/>
              </a:rPr>
              <a:t>(B, 3, 32, 32): 3 color channels, 32×32 pixels.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Conv + Pool Blocks: </a:t>
            </a:r>
            <a:r>
              <a:rPr sz="1350">
                <a:solidFill>
                  <a:srgbClr val="334155"/>
                </a:solidFill>
                <a:latin typeface="Calibri"/>
              </a:rPr>
              <a:t>Conv(3→32) → Pool → (B,32,16,16); Conv(32→64) → Pool → (B,64,8,8).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Classifier Head: </a:t>
            </a:r>
            <a:r>
              <a:rPr sz="1350">
                <a:solidFill>
                  <a:srgbClr val="334155"/>
                </a:solidFill>
                <a:latin typeface="Calibri"/>
              </a:rPr>
              <a:t>Flatten to 4,096 → Linear(4096→128) → Linear(128→10).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42 / 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Same Math, Three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Scratch (NumPy), Keras, and PyTorch on the Same 3 Datasets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2064" y="1645920"/>
          <a:ext cx="11167567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834640"/>
                <a:gridCol w="2846527"/>
              </a:tblGrid>
              <a:tr h="94183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Component</a:t>
                      </a:r>
                    </a:p>
                  </a:txBody>
                  <a:tcPr anchor="ctr" marL="73152" marR="73152" marT="109728" marB="109728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59E0B"/>
                          </a:solidFill>
                          <a:latin typeface="Segoe UI"/>
                        </a:defRPr>
                      </a:pPr>
                      <a:r>
                        <a:t>Scratch (NumPy)</a:t>
                      </a:r>
                    </a:p>
                  </a:txBody>
                  <a:tcPr anchor="ctr" marL="73152" marR="73152" marT="109728" marB="109728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Keras</a:t>
                      </a:r>
                    </a:p>
                  </a:txBody>
                  <a:tcPr anchor="ctr" marL="73152" marR="73152" marT="109728" marB="109728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PyTorch</a:t>
                      </a:r>
                    </a:p>
                  </a:txBody>
                  <a:tcPr anchor="ctr" marL="73152" marR="73152" marT="109728" marB="109728">
                    <a:solidFill>
                      <a:srgbClr val="0F172A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Preprocessing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/ 255.0, transpose to CHW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/ 255.0, HWC (native)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/ 255.0, transpose to CHW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Convolution Layer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conv2d_forward (im2col)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layers.Conv2D()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nn.Conv2d()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Backpropagation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Manual chain rule functions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Autodiff in fit()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loss.backward() (Autograd)</a:t>
                      </a:r>
                    </a:p>
                  </a:txBody>
                  <a:tcPr anchor="ctr" marL="73152" marR="73152" marT="73152" marB="73152">
                    <a:solidFill>
                      <a:srgbClr val="F8FAFC"/>
                    </a:solidFill>
                  </a:tcPr>
                </a:tc>
              </a:tr>
              <a:tr h="941832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Parameter Updates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45309"/>
                          </a:solidFill>
                          <a:latin typeface="Consolas"/>
                        </a:defRPr>
                      </a:pPr>
                      <a:r>
                        <a:t>W -= lr * dW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  <a:latin typeface="Consolas"/>
                        </a:defRPr>
                      </a:pPr>
                      <a:r>
                        <a:t>optimizer='sgd'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  <a:latin typeface="Consolas"/>
                        </a:defRPr>
                      </a:pPr>
                      <a:r>
                        <a:t>torch.optim.SGD()</a:t>
                      </a:r>
                    </a:p>
                  </a:txBody>
                  <a:tcPr anchor="ctr" marL="73152" marR="73152" marT="73152" marB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43 / 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Empirical Results Across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Comparable Accuracy, Divergent Training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62179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752" y="1801368"/>
            <a:ext cx="2663455" cy="1527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3438144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Test Accuracy Comparison Across Diabetes, Fashion-MNIST, and CIFAR-10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621792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ining_time_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752" y="4087367"/>
            <a:ext cx="2663455" cy="1527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724143"/>
            <a:ext cx="599846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0284C7"/>
                </a:solidFill>
                <a:latin typeface="Segoe UI"/>
              </a:defRPr>
            </a:pPr>
            <a:r>
              <a:t>Training Time Scaling: Scratch vs. Keras vs. PyTorch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691640"/>
            <a:ext cx="428213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800"/>
              </a:spcAft>
              <a:defRPr sz="1700" b="1">
                <a:solidFill>
                  <a:srgbClr val="EA580C"/>
                </a:solidFill>
                <a:latin typeface="Segoe UI"/>
              </a:defRPr>
            </a:pPr>
            <a:r>
              <a:t>Speed vs. Transparency Tradeoff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Accuracy Parity: </a:t>
            </a:r>
            <a:r>
              <a:rPr sz="1350">
                <a:solidFill>
                  <a:srgbClr val="334155"/>
                </a:solidFill>
                <a:latin typeface="Calibri"/>
              </a:rPr>
              <a:t>Diabetes 73-78%, Fashion-MNIST 86-90%, CIFAR-10 57-61% across all 3 frameworks.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Identical Parameter Counts: </a:t>
            </a:r>
            <a:r>
              <a:rPr sz="1350">
                <a:solidFill>
                  <a:srgbClr val="334155"/>
                </a:solidFill>
                <a:latin typeface="Calibri"/>
              </a:rPr>
              <a:t>2,177 / 421,642 / 545,098 params match exactly across Scratch, Keras, PyTorch.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 b="1">
                <a:solidFill>
                  <a:srgbClr val="0284C7"/>
                </a:solidFill>
                <a:latin typeface="Segoe UI"/>
              </a:rPr>
              <a:t>• Training Time Gap: </a:t>
            </a:r>
            <a:r>
              <a:rPr sz="1350">
                <a:solidFill>
                  <a:srgbClr val="334155"/>
                </a:solidFill>
                <a:latin typeface="Calibri"/>
              </a:rPr>
              <a:t>Scratch is 15-20x slower than Keras/PyTorch on CNN workloads (pure NumPy im2col).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44 / 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Closing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28655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Calibri"/>
              </a:defRPr>
            </a:pPr>
            <a:r>
              <a:t>Empirical Confirmation of CNN Theory Across Three Assignments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832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4338CA"/>
                </a:solidFill>
                <a:latin typeface="Segoe UI"/>
              </a:defRPr>
            </a:pPr>
            <a:r>
              <a:t>KEY FINDING 01</a:t>
            </a:r>
          </a:p>
          <a:p>
            <a:pPr>
              <a:spcAft>
                <a:spcPts val="1000"/>
              </a:spcAft>
              <a:defRPr sz="1700" b="1">
                <a:solidFill>
                  <a:srgbClr val="0F172A"/>
                </a:solidFill>
                <a:latin typeface="Segoe UI"/>
              </a:defRPr>
            </a:pPr>
            <a:r>
              <a:t>Mathematical Equivalence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• 100% Math Parity: </a:t>
            </a:r>
            <a:r>
              <a:rPr sz="1300">
                <a:solidFill>
                  <a:srgbClr val="334155"/>
                </a:solidFill>
                <a:latin typeface="Calibri"/>
              </a:rPr>
              <a:t>Identical network topologies and training splits converge to near-identical accuracy across all three frameworks.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• Empirical Proof: </a:t>
            </a:r>
            <a:r>
              <a:rPr sz="1300">
                <a:solidFill>
                  <a:srgbClr val="334155"/>
                </a:solidFill>
                <a:latin typeface="Calibri"/>
              </a:rPr>
              <a:t>Diabetes 73-78%, Fashion-MNIST 86-90%, and CIFAR-10 57-61% match closely across implementations.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• Universal Math: </a:t>
            </a:r>
            <a:r>
              <a:rPr sz="1300">
                <a:solidFill>
                  <a:srgbClr val="334155"/>
                </a:solidFill>
                <a:latin typeface="Calibri"/>
              </a:rPr>
              <a:t>Fundamental tensor calculus and gradient equations remain completely invariant to framework syntax.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1691640"/>
            <a:ext cx="33832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EA580C"/>
                </a:solidFill>
                <a:latin typeface="Segoe UI"/>
              </a:defRPr>
            </a:pPr>
            <a:r>
              <a:t>KEY FINDING 02</a:t>
            </a:r>
          </a:p>
          <a:p>
            <a:pPr>
              <a:spcAft>
                <a:spcPts val="1000"/>
              </a:spcAft>
              <a:defRPr sz="1700" b="1">
                <a:solidFill>
                  <a:srgbClr val="0F172A"/>
                </a:solidFill>
                <a:latin typeface="Segoe UI"/>
              </a:defRPr>
            </a:pPr>
            <a:r>
              <a:t>Computational Efficiency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580C"/>
                </a:solidFill>
                <a:latin typeface="Segoe UI"/>
              </a:rPr>
              <a:t>• 15x-20x Speedup: </a:t>
            </a:r>
            <a:r>
              <a:rPr sz="1300">
                <a:solidFill>
                  <a:srgbClr val="334155"/>
                </a:solidFill>
                <a:latin typeface="Calibri"/>
              </a:rPr>
              <a:t>Compiled C++/CUDA BLAS dramatically outperforms pure NumPy on convolutional workloads.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580C"/>
                </a:solidFill>
                <a:latin typeface="Segoe UI"/>
              </a:rPr>
              <a:t>• FLOPs Dominance: </a:t>
            </a:r>
            <a:r>
              <a:rPr sz="1300">
                <a:solidFill>
                  <a:srgbClr val="334155"/>
                </a:solidFill>
                <a:latin typeface="Calibri"/>
              </a:rPr>
              <a:t>Convolutions consume over 90% of total compute; memory caching and SIMD vectorization matter heavily.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EA580C"/>
                </a:solidFill>
                <a:latin typeface="Segoe UI"/>
              </a:rPr>
              <a:t>• Engineering Role: </a:t>
            </a:r>
            <a:r>
              <a:rPr sz="1300">
                <a:solidFill>
                  <a:srgbClr val="334155"/>
                </a:solidFill>
                <a:latin typeface="Calibri"/>
              </a:rPr>
              <a:t>NumPy teaches core mathematical intuition; compiled engines are mandatory for production scale.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691640"/>
            <a:ext cx="33832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82880"/>
          <a:lstStyle/>
          <a:p>
            <a:pPr algn="ctr">
              <a:spcAft>
                <a:spcPts val="400"/>
              </a:spcAft>
              <a:defRPr sz="1200" b="1">
                <a:solidFill>
                  <a:srgbClr val="059669"/>
                </a:solidFill>
                <a:latin typeface="Segoe UI"/>
              </a:defRPr>
            </a:pPr>
            <a:r>
              <a:t>KEY FINDING 03</a:t>
            </a:r>
          </a:p>
          <a:p>
            <a:pPr>
              <a:spcAft>
                <a:spcPts val="1000"/>
              </a:spcAft>
              <a:defRPr sz="1700" b="1">
                <a:solidFill>
                  <a:srgbClr val="0F172A"/>
                </a:solidFill>
                <a:latin typeface="Segoe UI"/>
              </a:defRPr>
            </a:pPr>
            <a:r>
              <a:t>Abstraction Spectrum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59669"/>
                </a:solidFill>
                <a:latin typeface="Segoe UI"/>
              </a:rPr>
              <a:t>• NumPy (From Scratch): </a:t>
            </a:r>
            <a:r>
              <a:rPr sz="1300">
                <a:solidFill>
                  <a:srgbClr val="334155"/>
                </a:solidFill>
                <a:latin typeface="Calibri"/>
              </a:rPr>
              <a:t>Provides complete visibility into tensor manipulation, im2col matrix unfolding, and col2im backprop.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59669"/>
                </a:solidFill>
                <a:latin typeface="Segoe UI"/>
              </a:rPr>
              <a:t>• Keras (High-Level): </a:t>
            </a:r>
            <a:r>
              <a:rPr sz="1300">
                <a:solidFill>
                  <a:srgbClr val="334155"/>
                </a:solidFill>
                <a:latin typeface="Calibri"/>
              </a:rPr>
              <a:t>Maximizes developer velocity, declarative graph wiring, and rapid model prototyping.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59669"/>
                </a:solidFill>
                <a:latin typeface="Segoe UI"/>
              </a:rPr>
              <a:t>• PyTorch (Imperative): </a:t>
            </a:r>
            <a:r>
              <a:rPr sz="1300">
                <a:solidFill>
                  <a:srgbClr val="334155"/>
                </a:solidFill>
                <a:latin typeface="Calibri"/>
              </a:rPr>
              <a:t>The modern research standard: dynamic autograd execution, pythonic debugging, and modular flexibility.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94A3B8"/>
                </a:solidFill>
                <a:latin typeface="Calibri"/>
              </a:defRPr>
            </a:pPr>
            <a:r>
              <a:t>45 /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